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754f1504fe486d" /><Relationship Type="http://schemas.openxmlformats.org/officeDocument/2006/relationships/extended-properties" Target="/docProps/app.xml" Id="R635c79b137314349" /><Relationship Type="http://schemas.openxmlformats.org/officeDocument/2006/relationships/officeDocument" Target="/ppt/presentation.xml" Id="R01918a71e3a343cb" /></Relationships>
</file>

<file path=ppt/presentation.xml><?xml version="1.0" encoding="utf-8"?>
<p:presentation xmlns:p="http://schemas.openxmlformats.org/presentationml/2006/main">
  <p:sldMasterIdLst>
    <p:sldMasterId xmlns:r="http://schemas.openxmlformats.org/officeDocument/2006/relationships" id="2147483648" r:id="Rb2e34390e7544aaa"/>
  </p:sldMasterIdLst>
  <p:notesMasterIdLst>
    <p:notesMasterId xmlns:r="http://schemas.openxmlformats.org/officeDocument/2006/relationships" r:id="R1dd3037b5d8c4ea9"/>
  </p:notesMasterIdLst>
  <p:sldIdLst>
    <p:sldId xmlns:r="http://schemas.openxmlformats.org/officeDocument/2006/relationships" id="256" r:id="R187e76a7445c4c4c"/>
    <p:sldId xmlns:r="http://schemas.openxmlformats.org/officeDocument/2006/relationships" id="257" r:id="R69eece4b2b9a4fea"/>
    <p:sldId xmlns:r="http://schemas.openxmlformats.org/officeDocument/2006/relationships" id="258" r:id="R2d46192a154b4cb9"/>
    <p:sldId xmlns:r="http://schemas.openxmlformats.org/officeDocument/2006/relationships" id="259" r:id="Ra3b9169f9d0a4e3e"/>
    <p:sldId xmlns:r="http://schemas.openxmlformats.org/officeDocument/2006/relationships" id="260" r:id="R522c377680bd455c"/>
    <p:sldId xmlns:r="http://schemas.openxmlformats.org/officeDocument/2006/relationships" id="261" r:id="Rcd7abcf553df4ae0"/>
    <p:sldId xmlns:r="http://schemas.openxmlformats.org/officeDocument/2006/relationships" id="262" r:id="R08fa0765fdc84d71"/>
    <p:sldId xmlns:r="http://schemas.openxmlformats.org/officeDocument/2006/relationships" id="263" r:id="R97cf453e4fa64db1"/>
    <p:sldId xmlns:r="http://schemas.openxmlformats.org/officeDocument/2006/relationships" id="264" r:id="Ra324301a629d4c45"/>
    <p:sldId xmlns:r="http://schemas.openxmlformats.org/officeDocument/2006/relationships" id="265" r:id="R190ae8ac135343fd"/>
    <p:sldId xmlns:r="http://schemas.openxmlformats.org/officeDocument/2006/relationships" id="266" r:id="Ra0afbc350f7c4ae0"/>
    <p:sldId xmlns:r="http://schemas.openxmlformats.org/officeDocument/2006/relationships" id="267" r:id="R0e38613899474856"/>
    <p:sldId xmlns:r="http://schemas.openxmlformats.org/officeDocument/2006/relationships" id="268" r:id="R0e5ff6a69b474e3a"/>
    <p:sldId xmlns:r="http://schemas.openxmlformats.org/officeDocument/2006/relationships" id="269" r:id="Rbabd1dbc81bc4edb"/>
    <p:sldId xmlns:r="http://schemas.openxmlformats.org/officeDocument/2006/relationships" id="270" r:id="R6ebbe9ba4fff4d8f"/>
    <p:sldId xmlns:r="http://schemas.openxmlformats.org/officeDocument/2006/relationships" id="271" r:id="R50ee280b980d4897"/>
    <p:sldId xmlns:r="http://schemas.openxmlformats.org/officeDocument/2006/relationships" id="272" r:id="R5b1b0f2972c447bb"/>
    <p:sldId xmlns:r="http://schemas.openxmlformats.org/officeDocument/2006/relationships" id="273" r:id="R4c6de9d354c049be"/>
    <p:sldId xmlns:r="http://schemas.openxmlformats.org/officeDocument/2006/relationships" id="274" r:id="Rf8a9cc3c991f4893"/>
    <p:sldId xmlns:r="http://schemas.openxmlformats.org/officeDocument/2006/relationships" id="275" r:id="R0e703d8604aa4ad5"/>
    <p:sldId xmlns:r="http://schemas.openxmlformats.org/officeDocument/2006/relationships" id="276" r:id="Rf8258c71de404cdb"/>
    <p:sldId xmlns:r="http://schemas.openxmlformats.org/officeDocument/2006/relationships" id="277" r:id="R6a1b1b1673a24ddd"/>
    <p:sldId xmlns:r="http://schemas.openxmlformats.org/officeDocument/2006/relationships" id="278" r:id="R85e2962bc65541ec"/>
    <p:sldId xmlns:r="http://schemas.openxmlformats.org/officeDocument/2006/relationships" id="279" r:id="Rd1cf3d33fe734db0"/>
    <p:sldId xmlns:r="http://schemas.openxmlformats.org/officeDocument/2006/relationships" id="280" r:id="R4c63449c327d4b13"/>
    <p:sldId xmlns:r="http://schemas.openxmlformats.org/officeDocument/2006/relationships" id="281" r:id="Rff55d338a43546ca"/>
    <p:sldId xmlns:r="http://schemas.openxmlformats.org/officeDocument/2006/relationships" id="282" r:id="R4be14dc3efdd4ced"/>
    <p:sldId xmlns:r="http://schemas.openxmlformats.org/officeDocument/2006/relationships" id="283" r:id="R3a3dd3f515be4696"/>
    <p:sldId xmlns:r="http://schemas.openxmlformats.org/officeDocument/2006/relationships" id="284" r:id="R5c3bcc5be5d34e37"/>
    <p:sldId xmlns:r="http://schemas.openxmlformats.org/officeDocument/2006/relationships" id="285" r:id="R598d87801ee14953"/>
    <p:sldId xmlns:r="http://schemas.openxmlformats.org/officeDocument/2006/relationships" id="286" r:id="Ra3b9aead9910463d"/>
    <p:sldId xmlns:r="http://schemas.openxmlformats.org/officeDocument/2006/relationships" id="287" r:id="Rd56d55e6d53a4d3e"/>
  </p:sldIdLst>
  <p:sldSz cx="15240000" cy="8572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6205d40af044c7e" /><Relationship Type="http://schemas.openxmlformats.org/officeDocument/2006/relationships/slideMaster" Target="/ppt/slideMasters/slideMaster1.xml" Id="Rb2e34390e7544aaa" /><Relationship Type="http://schemas.openxmlformats.org/officeDocument/2006/relationships/notesMaster" Target="/ppt/notesMasters/notesMaster1.xml" Id="R1dd3037b5d8c4ea9" /><Relationship Type="http://schemas.openxmlformats.org/officeDocument/2006/relationships/presProps" Target="/ppt/presProps.xml" Id="R07e54a65186848bc" /><Relationship Type="http://schemas.openxmlformats.org/officeDocument/2006/relationships/tableStyles" Target="/ppt/tableStyles.xml" Id="Re2bbc4c5162a40ca" /><Relationship Type="http://schemas.openxmlformats.org/officeDocument/2006/relationships/slide" Target="/ppt/slides/slide1.xml" Id="R187e76a7445c4c4c" /><Relationship Type="http://schemas.openxmlformats.org/officeDocument/2006/relationships/slide" Target="/ppt/slides/slide2.xml" Id="R69eece4b2b9a4fea" /><Relationship Type="http://schemas.openxmlformats.org/officeDocument/2006/relationships/slide" Target="/ppt/slides/slide3.xml" Id="R2d46192a154b4cb9" /><Relationship Type="http://schemas.openxmlformats.org/officeDocument/2006/relationships/slide" Target="/ppt/slides/slide4.xml" Id="Ra3b9169f9d0a4e3e" /><Relationship Type="http://schemas.openxmlformats.org/officeDocument/2006/relationships/slide" Target="/ppt/slides/slide5.xml" Id="R522c377680bd455c" /><Relationship Type="http://schemas.openxmlformats.org/officeDocument/2006/relationships/slide" Target="/ppt/slides/slide6.xml" Id="Rcd7abcf553df4ae0" /><Relationship Type="http://schemas.openxmlformats.org/officeDocument/2006/relationships/slide" Target="/ppt/slides/slide7.xml" Id="R08fa0765fdc84d71" /><Relationship Type="http://schemas.openxmlformats.org/officeDocument/2006/relationships/slide" Target="/ppt/slides/slide8.xml" Id="R97cf453e4fa64db1" /><Relationship Type="http://schemas.openxmlformats.org/officeDocument/2006/relationships/slide" Target="/ppt/slides/slide9.xml" Id="Ra324301a629d4c45" /><Relationship Type="http://schemas.openxmlformats.org/officeDocument/2006/relationships/slide" Target="/ppt/slides/slide10.xml" Id="R190ae8ac135343fd" /><Relationship Type="http://schemas.openxmlformats.org/officeDocument/2006/relationships/slide" Target="/ppt/slides/slide11.xml" Id="Ra0afbc350f7c4ae0" /><Relationship Type="http://schemas.openxmlformats.org/officeDocument/2006/relationships/slide" Target="/ppt/slides/slide12.xml" Id="R0e38613899474856" /><Relationship Type="http://schemas.openxmlformats.org/officeDocument/2006/relationships/slide" Target="/ppt/slides/slide13.xml" Id="R0e5ff6a69b474e3a" /><Relationship Type="http://schemas.openxmlformats.org/officeDocument/2006/relationships/slide" Target="/ppt/slides/slide14.xml" Id="Rbabd1dbc81bc4edb" /><Relationship Type="http://schemas.openxmlformats.org/officeDocument/2006/relationships/slide" Target="/ppt/slides/slide15.xml" Id="R6ebbe9ba4fff4d8f" /><Relationship Type="http://schemas.openxmlformats.org/officeDocument/2006/relationships/slide" Target="/ppt/slides/slide16.xml" Id="R50ee280b980d4897" /><Relationship Type="http://schemas.openxmlformats.org/officeDocument/2006/relationships/slide" Target="/ppt/slides/slide17.xml" Id="R5b1b0f2972c447bb" /><Relationship Type="http://schemas.openxmlformats.org/officeDocument/2006/relationships/slide" Target="/ppt/slides/slide18.xml" Id="R4c6de9d354c049be" /><Relationship Type="http://schemas.openxmlformats.org/officeDocument/2006/relationships/slide" Target="/ppt/slides/slide19.xml" Id="Rf8a9cc3c991f4893" /><Relationship Type="http://schemas.openxmlformats.org/officeDocument/2006/relationships/slide" Target="/ppt/slides/slide20.xml" Id="R0e703d8604aa4ad5" /><Relationship Type="http://schemas.openxmlformats.org/officeDocument/2006/relationships/slide" Target="/ppt/slides/slide21.xml" Id="Rf8258c71de404cdb" /><Relationship Type="http://schemas.openxmlformats.org/officeDocument/2006/relationships/slide" Target="/ppt/slides/slide22.xml" Id="R6a1b1b1673a24ddd" /><Relationship Type="http://schemas.openxmlformats.org/officeDocument/2006/relationships/slide" Target="/ppt/slides/slide23.xml" Id="R85e2962bc65541ec" /><Relationship Type="http://schemas.openxmlformats.org/officeDocument/2006/relationships/slide" Target="/ppt/slides/slide24.xml" Id="Rd1cf3d33fe734db0" /><Relationship Type="http://schemas.openxmlformats.org/officeDocument/2006/relationships/slide" Target="/ppt/slides/slide25.xml" Id="R4c63449c327d4b13" /><Relationship Type="http://schemas.openxmlformats.org/officeDocument/2006/relationships/slide" Target="/ppt/slides/slide26.xml" Id="Rff55d338a43546ca" /><Relationship Type="http://schemas.openxmlformats.org/officeDocument/2006/relationships/slide" Target="/ppt/slides/slide27.xml" Id="R4be14dc3efdd4ced" /><Relationship Type="http://schemas.openxmlformats.org/officeDocument/2006/relationships/slide" Target="/ppt/slides/slide28.xml" Id="R3a3dd3f515be4696" /><Relationship Type="http://schemas.openxmlformats.org/officeDocument/2006/relationships/slide" Target="/ppt/slides/slide29.xml" Id="R5c3bcc5be5d34e37" /><Relationship Type="http://schemas.openxmlformats.org/officeDocument/2006/relationships/slide" Target="/ppt/slides/slide30.xml" Id="R598d87801ee14953" /><Relationship Type="http://schemas.openxmlformats.org/officeDocument/2006/relationships/slide" Target="/ppt/slides/slide31.xml" Id="Ra3b9aead9910463d" /><Relationship Type="http://schemas.openxmlformats.org/officeDocument/2006/relationships/slide" Target="/ppt/slides/slide32.xml" Id="Rd56d55e6d53a4d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fe769f732c5492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Oracle-style project palette">
      <a:dk1>
        <a:srgbClr val="312D2A"/>
      </a:dk1>
      <a:lt1>
        <a:srgbClr val="FFFFFF"/>
      </a:lt1>
      <a:dk2>
        <a:srgbClr val="242B2A"/>
      </a:dk2>
      <a:lt2>
        <a:srgbClr val="E9E5DF"/>
      </a:lt2>
      <a:accent1>
        <a:srgbClr val="C74634"/>
      </a:accent1>
      <a:accent2>
        <a:srgbClr val="AE562C"/>
      </a:accent2>
      <a:accent3>
        <a:srgbClr val="486D58"/>
      </a:accent3>
      <a:accent4>
        <a:srgbClr val="467B83"/>
      </a:accent4>
      <a:accent5>
        <a:srgbClr val="8F7960"/>
      </a:accent5>
      <a:accent6>
        <a:srgbClr val="B6AA9A"/>
      </a:accent6>
      <a:hlink>
        <a:srgbClr val="AE562C"/>
      </a:hlink>
      <a:folHlink>
        <a:srgbClr val="6F6861"/>
      </a:folHlink>
    </a:clrScheme>
    <a:fontScheme name="Office">
      <a:majorFont>
        <a:latin typeface="Calibri Light"/>
        <a:ea typeface="Calibri Light"/>
        <a:cs typeface="Calibri Light"/>
      </a:majorFont>
      <a:minorFont>
        <a:latin typeface="Calibri"/>
        <a:ea typeface="Calibri"/>
        <a:cs typeface="Calibri"/>
      </a:minorFont>
    </a:fontScheme>
    <a:fmtScheme name="Oracle-style project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fd94b8f2fb4cb5" /><Relationship Type="http://schemas.openxmlformats.org/officeDocument/2006/relationships/notesMaster" Target="/ppt/notesMasters/notesMaster1.xml" Id="R179dd9a7664e41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f3a796922ff4dd4" /><Relationship Type="http://schemas.openxmlformats.org/officeDocument/2006/relationships/notesMaster" Target="/ppt/notesMasters/notesMaster1.xml" Id="R35c34a1486cc4d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54ee65c95094ac0" /><Relationship Type="http://schemas.openxmlformats.org/officeDocument/2006/relationships/notesMaster" Target="/ppt/notesMasters/notesMaster1.xml" Id="Rb961d9ff5e7b4279"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f30af8017d41ae" /><Relationship Type="http://schemas.openxmlformats.org/officeDocument/2006/relationships/notesMaster" Target="/ppt/notesMasters/notesMaster1.xml" Id="R304f6115513543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c404d21e8844111" /><Relationship Type="http://schemas.openxmlformats.org/officeDocument/2006/relationships/notesMaster" Target="/ppt/notesMasters/notesMaster1.xml" Id="R601b5e06ae4d4e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7a1b2e13014a1f" /><Relationship Type="http://schemas.openxmlformats.org/officeDocument/2006/relationships/notesMaster" Target="/ppt/notesMasters/notesMaster1.xml" Id="R0116788052364cf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f0dc2966df475e" /><Relationship Type="http://schemas.openxmlformats.org/officeDocument/2006/relationships/notesMaster" Target="/ppt/notesMasters/notesMaster1.xml" Id="R520f757960c947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eee6b196748b4bc7" /><Relationship Type="http://schemas.openxmlformats.org/officeDocument/2006/relationships/notesMaster" Target="/ppt/notesMasters/notesMaster1.xml" Id="R5defc0f6ebec4b0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b5f1bb6f664f75" /><Relationship Type="http://schemas.openxmlformats.org/officeDocument/2006/relationships/notesMaster" Target="/ppt/notesMasters/notesMaster1.xml" Id="Rf313177a44a24a3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fdd561d4904a46" /><Relationship Type="http://schemas.openxmlformats.org/officeDocument/2006/relationships/notesMaster" Target="/ppt/notesMasters/notesMaster1.xml" Id="R226fe10202c24d2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f3ab2df8494ced" /><Relationship Type="http://schemas.openxmlformats.org/officeDocument/2006/relationships/notesMaster" Target="/ppt/notesMasters/notesMaster1.xml" Id="R39b8c2373b8d4f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c557c921a946e2" /><Relationship Type="http://schemas.openxmlformats.org/officeDocument/2006/relationships/notesMaster" Target="/ppt/notesMasters/notesMaster1.xml" Id="R8cbbccbeff7943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23c69024a114edf" /><Relationship Type="http://schemas.openxmlformats.org/officeDocument/2006/relationships/notesMaster" Target="/ppt/notesMasters/notesMaster1.xml" Id="R4f9fc467c69c4db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eabca6e23f24dac" /><Relationship Type="http://schemas.openxmlformats.org/officeDocument/2006/relationships/notesMaster" Target="/ppt/notesMasters/notesMaster1.xml" Id="R0dc361393730407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ccb4671a3f14771" /><Relationship Type="http://schemas.openxmlformats.org/officeDocument/2006/relationships/notesMaster" Target="/ppt/notesMasters/notesMaster1.xml" Id="Rb21b914318e649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0cdf72b51e4cab" /><Relationship Type="http://schemas.openxmlformats.org/officeDocument/2006/relationships/notesMaster" Target="/ppt/notesMasters/notesMaster1.xml" Id="Rc02103323f0b420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772cf255bab4285" /><Relationship Type="http://schemas.openxmlformats.org/officeDocument/2006/relationships/notesMaster" Target="/ppt/notesMasters/notesMaster1.xml" Id="R596ca742d59641a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df267684e664bdd" /><Relationship Type="http://schemas.openxmlformats.org/officeDocument/2006/relationships/notesMaster" Target="/ppt/notesMasters/notesMaster1.xml" Id="R07a99f1f5e2d438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1bf4a98c0ac4187" /><Relationship Type="http://schemas.openxmlformats.org/officeDocument/2006/relationships/notesMaster" Target="/ppt/notesMasters/notesMaster1.xml" Id="R0bc32332742f464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92227b46b1c47ae" /><Relationship Type="http://schemas.openxmlformats.org/officeDocument/2006/relationships/notesMaster" Target="/ppt/notesMasters/notesMaster1.xml" Id="R2452704e2d7e417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bdf11fa08d4671" /><Relationship Type="http://schemas.openxmlformats.org/officeDocument/2006/relationships/notesMaster" Target="/ppt/notesMasters/notesMaster1.xml" Id="Rec4d222a9561434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0670022269425b" /><Relationship Type="http://schemas.openxmlformats.org/officeDocument/2006/relationships/notesMaster" Target="/ppt/notesMasters/notesMaster1.xml" Id="R158a9adbf60f462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5b5ef53b4c343b3" /><Relationship Type="http://schemas.openxmlformats.org/officeDocument/2006/relationships/notesMaster" Target="/ppt/notesMasters/notesMaster1.xml" Id="Rc25dcc1fb76b46c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b90d79d90b4dd3" /><Relationship Type="http://schemas.openxmlformats.org/officeDocument/2006/relationships/notesMaster" Target="/ppt/notesMasters/notesMaster1.xml" Id="R45907ecbe3b8424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410e6be08034e03" /><Relationship Type="http://schemas.openxmlformats.org/officeDocument/2006/relationships/notesMaster" Target="/ppt/notesMasters/notesMaster1.xml" Id="Rd4fce6d3002b447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350ca6f76ea48f4" /><Relationship Type="http://schemas.openxmlformats.org/officeDocument/2006/relationships/notesMaster" Target="/ppt/notesMasters/notesMaster1.xml" Id="R829ee44578df4c7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bd2b2e141e814406" /><Relationship Type="http://schemas.openxmlformats.org/officeDocument/2006/relationships/notesMaster" Target="/ppt/notesMasters/notesMaster1.xml" Id="Rd2c91453ec8e489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7ee5d4177eb4284" /><Relationship Type="http://schemas.openxmlformats.org/officeDocument/2006/relationships/notesMaster" Target="/ppt/notesMasters/notesMaster1.xml" Id="R5df33e75268245a2"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60cc9e84164b4f28" /><Relationship Type="http://schemas.openxmlformats.org/officeDocument/2006/relationships/notesMaster" Target="/ppt/notesMasters/notesMaster1.xml" Id="Re9898f25cd7a41a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2f8ebb4dfef4510" /><Relationship Type="http://schemas.openxmlformats.org/officeDocument/2006/relationships/notesMaster" Target="/ppt/notesMasters/notesMaster1.xml" Id="R75518ced1c83462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d742128b9146e5" /><Relationship Type="http://schemas.openxmlformats.org/officeDocument/2006/relationships/notesMaster" Target="/ppt/notesMasters/notesMaster1.xml" Id="Rf20520f2a3d64c0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b5f2c7acf2148cd" /><Relationship Type="http://schemas.openxmlformats.org/officeDocument/2006/relationships/notesMaster" Target="/ppt/notesMasters/notesMaster1.xml" Id="R6aa5a80e8bf3415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explain the solution, capture mechanics, architecture, UI search and current delivery boundaries. All screenshot business records in this deck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supplied Safe harbor statement, reproduced verbatim.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order example. The application is a change-history store and control plane, not merely a replica that overwrites each previous row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Solution-design mapping. Source readiness rules and proof boundaries: https://dev.mysql.com/doc/refman/8.4/en/replication-options-binary-log.html ; https://debezium.io/documentation/reference/3.4/connectors/mysql.html. Indexing, partitioning and typed evidence are application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data-flow diagram, separate from network deployment. Editable source: internal_doc/diagrams/presentation-data-flow.drawio. Official OCI HeatWave, Container and Streaming assets. The official generic Container symbol represents OCI Container Instances running Debezium and the history writer.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https://dev.mysql.com/doc/refman/8.4/en/replication-options-binary-log.html ; https://debezium.io/documentation/reference/3.4/connectors/mysql.html. FULL preserves all available columns; disable PARTIAL_JSON for complete JSON update images. Global session-variable changes require writer reconnection and a controlled test. Missing historical images cannot be reconstructed from incomplete or purged binlogs.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illustrative Debezium envelope; production events also carry source coordinates, timestamps and converter/type metadata. Application write ordering is implemented in modules/events.py and worker.py.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uses official OCI Library and HeatWave toolkit assets. All boundary containment is preserved in editable source: internal_doc/diagrams/presentation-kafka-network.drawio. Broker endpoint uses official private endpoint icon; generic Container glyph represents OCI Container Instances for Debezium and the processor. Debezium initiates source replication TCP 3306; the source streams changes over that established connection. Managed Kafka broker access uses private subnets. https://www.oracle.com/uk/cloud/apache-kafka/faq/ ; https://docs.oracle.com/en-us/iaas/Content/kafka/security-sasl.htm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Editable source: internal_doc/diagrams/presentation-streaming-network.drawio. OCI Streaming differs from managed Kafka: ordinary stream retention is 24 hours to 7 days, message limit 1 MB; normal streams are not a lifetime schema-history archive. Harness internal topics are for Connect config/offset/status only. JDBC schema history requires tested driver/storage JARs and target access. https://docs.oracle.com/en-us/iaas/Content/Streaming/Tasks/kafkacompatibility.htm ; https://docs.oracle.com/en-us/iaas/Content/Streaming/Tasks/kafkacompatibility_topic-Kafka_Connect.htm ; https://docs.oracle.com/en-us/iaas/Content/Streaming/Concepts/streamingoverview_topic-Limits_on_Streaming_Resources.htm ; https://debezium.io/documentation/reference/3.4/configuration/storage.html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Solution-design mapping. Source readiness rules and proof boundaries: https://dev.mysql.com/doc/refman/8.4/en/replication-options-binary-log.html ; https://debezium.io/documentation/reference/3.4/connectors/mysql.html. Indexing, partitioning and typed evidence are application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Solution-design mapping. Source readiness rules and proof boundaries: https://dev.mysql.com/doc/refman/8.4/en/replication-options-binary-log.html ; https://debezium.io/documentation/reference/3.4/connectors/mysql.html. Indexing, partitioning and typed evidence are application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Solution-design mapping. Source readiness rules and proof boundaries: https://dev.mysql.com/doc/refman/8.4/en/replication-options-binary-log.html ; https://debezium.io/documentation/reference/3.4/connectors/mysql.html. Indexing, partitioning and typed evidence are application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Solution-design mapping. Source readiness rules and proof boundaries: https://dev.mysql.com/doc/refman/8.4/en/replication-options-binary-log.html ; https://debezium.io/documentation/reference/3.4/connectors/mysql.html. Indexing, partitioning and typed evidence are application design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implementation: modules/events.py, modules/heatwave.py, modules/audit_service.py and worker.py. HMAC namespace includes source identity, source schema/table and canonical JSON key. Schema document/fingerprint is retained when the converter supplies schema metadata. Event source coordinates support DML replay deduplication; failover and row-key aliases need acceptance validation. https://debezium.io/documentation/reference/3.4/connectors/mysql.html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repository dashboard.html rendered in an isolated local preview using one illustrative registered flow. KPI counts and activity are fixture data; not measurements from the deployed customer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uses the actual shared table implementation, with synthetic source/target endpoints under example.invalid. Passwords are not included. Tables support checkbox selection, left toolbar actions/search/paging, right download/reset icons and saved resize/reorder/sort.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design and implementation: modules/events.py, modules/heatwave.py, modules/audit_service.py. Source-coordinate deduplication is implemented for supported DML coordinates. Full cross-failover identity and snapshot-lineage handling remain acceptance work. Fingerprints are not encryption or proof of immutability.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Monthly partition lifecycle pattern reviewed from https://github.com/ivanxma/heatwave_log_archiver/tree/e61b2c4230b728aa7911aba9e2a617df3bda3894. CDC uses source-event identity rather than the archiver’s polled-row timestamp/content fingerprint. MySQL unique key requirement: https://dev.mysql.com/doc/refman/8.4/en/partitioning-limitations-partitioning-keys-unique-keys.html. Real local MySQL validation covered partition DDL, dedup ledger and indexed row-key retrieval; this is not a live HeatWave CDC performance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audit.html controls rendered with illustrative data. Current form accepts a complete primary-key JSON object. Indexed lookup is implemented; full key-definition version and row-lifetime alias handling remains planned. No latency guarantee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shared table UI with illustrative records. A snapshot is a baseline, not proof of an original INSERT. Stable source ordering and coverage must be considered when interpreting a timeline. Search/chart rows shown here are fixtures, not customer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comparison dialog rendered with illustrative data and enlarged JSON text for presentation readability. The UI displays complete stored images and optional source metadata. No production data or credentials appear.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schema history is separate from Debezium private recovery history. MySQL row CDC is not a complete security audit feed. Detailed metadata enrichment and privilege/access collectors remain implementation/validation work. https://debezium.io/documentation/reference/3.4/connectors/mysql.html ; https://docs.oracle.com/en-us/iaas/mysql-database/doc/mysql-enterprise-audit-plugin.html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actual control.html with illustrative draft mapping and no real container OCIDs. Current container restart reuses existing configuration. Revision-based hot apply/replacement, graceful drain and independent end-to-end health remain planned. The web app is deployed on OL9 with opaque sessions and forced bootstrap password rotation.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Application screenshot uses illustrative inventory, not a live provisioned queue. Scope comes from VM instance metadata and is enforced server-side with instance-principal credentials. Services include OCI Streaming, managed Apache Kafka, OCI Container Instances, private registry, Vault and HeatWave. OCI authorization and regional availability remain deployment prerequisites.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records in the screenshot. A new target audit table can be named automatically. Submitted selections are checked against live metadata. Prepare the single-partition schema topic, validate replication and target settings, then deploy using the selected private container images.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evidence: internal_doc/deployment-status.html. HTTPS and local repository are deployed; managed Kafka/Streaming inventory returned NotAuthorizedOrNotFound during setup, so live CDC is not claimed. Detailed privilege tracing, full schema fidelity and revision-based replacement remain delivery work. Snapshot previews are illustrative.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cited URLs: https://dev.mysql.com/doc/refman/8.4/en/replication-options-binary-log.html</a:t>
            </a:r>
          </a:p>
          <a:p xmlns:a="http://schemas.openxmlformats.org/drawingml/2006/main">
            <a:r>
              <a:t>https://debezium.io/documentation/reference/3.4/connectors/mysql.html</a:t>
            </a:r>
          </a:p>
          <a:p xmlns:a="http://schemas.openxmlformats.org/drawingml/2006/main">
            <a:r>
              <a:t>https://www.oracle.com/uk/cloud/apache-kafka/faq/</a:t>
            </a:r>
          </a:p>
          <a:p xmlns:a="http://schemas.openxmlformats.org/drawingml/2006/main">
            <a:r>
              <a:t>https://docs.oracle.com/en-us/iaas/Content/kafka/security-sasl.htm</a:t>
            </a:r>
          </a:p>
          <a:p xmlns:a="http://schemas.openxmlformats.org/drawingml/2006/main">
            <a:r>
              <a:t>https://docs.oracle.com/en-us/iaas/Content/Streaming/Tasks/kafkacompatibility.htm</a:t>
            </a:r>
          </a:p>
          <a:p xmlns:a="http://schemas.openxmlformats.org/drawingml/2006/main">
            <a:r>
              <a:t>https://docs.oracle.com/en-us/iaas/Content/Streaming/Tasks/kafkacompatibility_topic-Kafka_Connect.htm</a:t>
            </a:r>
          </a:p>
          <a:p xmlns:a="http://schemas.openxmlformats.org/drawingml/2006/main">
            <a:r>
              <a:t>https://docs.oracle.com/en-us/iaas/Content/Streaming/Concepts/streamingoverview_topic-Limits_on_Streaming_Resources.htm</a:t>
            </a:r>
          </a:p>
          <a:p xmlns:a="http://schemas.openxmlformats.org/drawingml/2006/main">
            <a:r>
              <a:t>https://debezium.io/documentation/reference/3.4/configuration/storage.html</a:t>
            </a:r>
          </a:p>
          <a:p xmlns:a="http://schemas.openxmlformats.org/drawingml/2006/main">
            <a:r>
              <a:t>https://docs.oracle.com/en-us/iaas/mysql-database/doc/mysql-enterprise-audit-plugin.html</a:t>
            </a:r>
          </a:p>
          <a:p xmlns:a="http://schemas.openxmlformats.org/drawingml/2006/main">
            <a:r>
              <a:t>https://dev.mysql.com/doc/refman/8.4/en/partitioning-limitations-partitioning-keys-unique-keys.html</a:t>
            </a:r>
          </a:p>
          <a:p xmlns:a="http://schemas.openxmlformats.org/drawingml/2006/main">
            <a:r>
              <a:t>https://github.com/ivanxma/heatwave_log_archiver/tree/e61b2c4230b728aa7911aba9e2a617df3bda3894</a:t>
            </a:r>
          </a:p>
          <a:p xmlns:a="http://schemas.openxmlformats.org/drawingml/2006/main">
            <a:r>
              <a:t>Internal design: internal_doc/heatwave-audit-plan.html. Repository source and live deployment checks underpin current-state statements.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78c49bb375409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fa9cc18f3e44aa" /><Relationship Type="http://schemas.openxmlformats.org/officeDocument/2006/relationships/slideLayout" Target="/ppt/slideLayouts/slideLayout1.xml" Id="R521554856b484b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1554856b484b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Oracle-style project palette">
      <a:dk1>
        <a:srgbClr val="312D2A"/>
      </a:dk1>
      <a:lt1>
        <a:srgbClr val="FFFFFF"/>
      </a:lt1>
      <a:dk2>
        <a:srgbClr val="242B2A"/>
      </a:dk2>
      <a:lt2>
        <a:srgbClr val="E9E5DF"/>
      </a:lt2>
      <a:accent1>
        <a:srgbClr val="C74634"/>
      </a:accent1>
      <a:accent2>
        <a:srgbClr val="AE562C"/>
      </a:accent2>
      <a:accent3>
        <a:srgbClr val="486D58"/>
      </a:accent3>
      <a:accent4>
        <a:srgbClr val="467B83"/>
      </a:accent4>
      <a:accent5>
        <a:srgbClr val="8F7960"/>
      </a:accent5>
      <a:accent6>
        <a:srgbClr val="B6AA9A"/>
      </a:accent6>
      <a:hlink>
        <a:srgbClr val="AE562C"/>
      </a:hlink>
      <a:folHlink>
        <a:srgbClr val="6F6861"/>
      </a:folHlink>
    </a:clrScheme>
    <a:fontScheme name="Office">
      <a:majorFont>
        <a:latin typeface="Calibri Light"/>
        <a:ea typeface="Calibri Light"/>
        <a:cs typeface="Calibri Light"/>
      </a:majorFont>
      <a:minorFont>
        <a:latin typeface="Calibri"/>
        <a:ea typeface="Calibri"/>
        <a:cs typeface="Calibri"/>
      </a:minorFont>
    </a:fontScheme>
    <a:fmtScheme name="Oracle-style project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72cce46ca334e21" /><Relationship Type="http://schemas.openxmlformats.org/officeDocument/2006/relationships/notesSlide" Target="/ppt/notesSlides/notesSlide1.xml" Id="Re323c343510e4c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6bf1d67ec7748b0" /><Relationship Type="http://schemas.openxmlformats.org/officeDocument/2006/relationships/notesSlide" Target="/ppt/notesSlides/notesSlide2.xml" Id="Rf0201129e78349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9be02ff9e04f82" /><Relationship Type="http://schemas.openxmlformats.org/officeDocument/2006/relationships/notesSlide" Target="/ppt/notesSlides/notesSlide3.xml" Id="Re238a704e8034c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ef03b74b3d84790" /><Relationship Type="http://schemas.openxmlformats.org/officeDocument/2006/relationships/notesSlide" Target="/ppt/notesSlides/notesSlide4.xml" Id="R89cf89fa966e4a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7996dd06a404b9b" /><Relationship Type="http://schemas.openxmlformats.org/officeDocument/2006/relationships/image" Target="/ppt/media/image.png" Id="R0eab591172ee44a9" /><Relationship Type="http://schemas.openxmlformats.org/officeDocument/2006/relationships/notesSlide" Target="/ppt/notesSlides/notesSlide5.xml" Id="R79d23a2477334a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481609b27f4d5c" /><Relationship Type="http://schemas.openxmlformats.org/officeDocument/2006/relationships/notesSlide" Target="/ppt/notesSlides/notesSlide6.xml" Id="R3c349e94b01d49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f9334914c0d4e33" /><Relationship Type="http://schemas.openxmlformats.org/officeDocument/2006/relationships/notesSlide" Target="/ppt/notesSlides/notesSlide7.xml" Id="R3795e2ccb55046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34a4ad82b72470d" /><Relationship Type="http://schemas.openxmlformats.org/officeDocument/2006/relationships/notesSlide" Target="/ppt/notesSlides/notesSlide8.xml" Id="R5ff5a5a566b54b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351020f3d04ad9" /><Relationship Type="http://schemas.openxmlformats.org/officeDocument/2006/relationships/image" Target="/ppt/media/image2.png" Id="Rb1f92dd520fa4067" /><Relationship Type="http://schemas.openxmlformats.org/officeDocument/2006/relationships/notesSlide" Target="/ppt/notesSlides/notesSlide9.xml" Id="Ra4a0806b68c0460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5827ebb2ab4722" /><Relationship Type="http://schemas.openxmlformats.org/officeDocument/2006/relationships/image" Target="/ppt/media/image3.png" Id="R2b541ee2c69d48ce" /><Relationship Type="http://schemas.openxmlformats.org/officeDocument/2006/relationships/notesSlide" Target="/ppt/notesSlides/notesSlide10.xml" Id="R6d095b217002482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4fac6e82c34e6d" /><Relationship Type="http://schemas.openxmlformats.org/officeDocument/2006/relationships/notesSlide" Target="/ppt/notesSlides/notesSlide11.xml" Id="Re622e5c373db403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32d74c353054133" /><Relationship Type="http://schemas.openxmlformats.org/officeDocument/2006/relationships/notesSlide" Target="/ppt/notesSlides/notesSlide12.xml" Id="Rc15486f5bfa741a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4ba252d89094a5d" /><Relationship Type="http://schemas.openxmlformats.org/officeDocument/2006/relationships/notesSlide" Target="/ppt/notesSlides/notesSlide13.xml" Id="Rcc7db22bba52459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c42f04ce4134123" /><Relationship Type="http://schemas.openxmlformats.org/officeDocument/2006/relationships/notesSlide" Target="/ppt/notesSlides/notesSlide14.xml" Id="R65c428a1c7f2438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82c78da59f9c4f8d" /><Relationship Type="http://schemas.openxmlformats.org/officeDocument/2006/relationships/notesSlide" Target="/ppt/notesSlides/notesSlide15.xml" Id="R8c7d1b73c5b441e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f5ed877ad9c432e" /><Relationship Type="http://schemas.openxmlformats.org/officeDocument/2006/relationships/notesSlide" Target="/ppt/notesSlides/notesSlide16.xml" Id="R8c49e001cc3c49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8885ad34622463c" /><Relationship Type="http://schemas.openxmlformats.org/officeDocument/2006/relationships/notesSlide" Target="/ppt/notesSlides/notesSlide17.xml" Id="R9002ebd0b112479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e3c37683995493d" /><Relationship Type="http://schemas.openxmlformats.org/officeDocument/2006/relationships/notesSlide" Target="/ppt/notesSlides/notesSlide18.xml" Id="R5ac193ab701f43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6a88c6a318b4c28" /><Relationship Type="http://schemas.openxmlformats.org/officeDocument/2006/relationships/notesSlide" Target="/ppt/notesSlides/notesSlide19.xml" Id="R6eaac893b5fd4b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12c9cef091304570" /><Relationship Type="http://schemas.openxmlformats.org/officeDocument/2006/relationships/image" Target="/ppt/media/image4.png" Id="R4f8638bcf63a4ceb" /><Relationship Type="http://schemas.openxmlformats.org/officeDocument/2006/relationships/notesSlide" Target="/ppt/notesSlides/notesSlide20.xml" Id="R37602dad33ee46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a4e7ecfd2114228" /><Relationship Type="http://schemas.openxmlformats.org/officeDocument/2006/relationships/image" Target="/ppt/media/image5.png" Id="Rad5bfea50f284fb3" /><Relationship Type="http://schemas.openxmlformats.org/officeDocument/2006/relationships/notesSlide" Target="/ppt/notesSlides/notesSlide21.xml" Id="Rf21c7d87ca5a4a2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9188e972bd44e30" /><Relationship Type="http://schemas.openxmlformats.org/officeDocument/2006/relationships/notesSlide" Target="/ppt/notesSlides/notesSlide22.xml" Id="R8dbde5550e3b43a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b0bfef777394214" /><Relationship Type="http://schemas.openxmlformats.org/officeDocument/2006/relationships/notesSlide" Target="/ppt/notesSlides/notesSlide23.xml" Id="R6b7a6c210a024f9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ea4c6a0961344c8" /><Relationship Type="http://schemas.openxmlformats.org/officeDocument/2006/relationships/image" Target="/ppt/media/image6.png" Id="R9676f9975b9a4f72" /><Relationship Type="http://schemas.openxmlformats.org/officeDocument/2006/relationships/notesSlide" Target="/ppt/notesSlides/notesSlide24.xml" Id="R5507263792114837"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e96c7fe58cf443a8" /><Relationship Type="http://schemas.openxmlformats.org/officeDocument/2006/relationships/image" Target="/ppt/media/image7.png" Id="R7df090245cec468c" /><Relationship Type="http://schemas.openxmlformats.org/officeDocument/2006/relationships/notesSlide" Target="/ppt/notesSlides/notesSlide25.xml" Id="Rbd15a6afc2f246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a8f818923704cf7" /><Relationship Type="http://schemas.openxmlformats.org/officeDocument/2006/relationships/image" Target="/ppt/media/image8.png" Id="R0c977b5cb2c043f8" /><Relationship Type="http://schemas.openxmlformats.org/officeDocument/2006/relationships/notesSlide" Target="/ppt/notesSlides/notesSlide26.xml" Id="Ra57adfbbc0d9408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7c3af336a5a4b91" /><Relationship Type="http://schemas.openxmlformats.org/officeDocument/2006/relationships/notesSlide" Target="/ppt/notesSlides/notesSlide27.xml" Id="R32d0895f87af41e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b19fe3e23d34b88" /><Relationship Type="http://schemas.openxmlformats.org/officeDocument/2006/relationships/image" Target="/ppt/media/image9.png" Id="R3d56eff0b799427b" /><Relationship Type="http://schemas.openxmlformats.org/officeDocument/2006/relationships/notesSlide" Target="/ppt/notesSlides/notesSlide28.xml" Id="R3f70be60782f492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48bfbf0715a74db1" /><Relationship Type="http://schemas.openxmlformats.org/officeDocument/2006/relationships/image" Target="/ppt/media/image10.png" Id="R5a0bcea785e54196" /><Relationship Type="http://schemas.openxmlformats.org/officeDocument/2006/relationships/notesSlide" Target="/ppt/notesSlides/notesSlide29.xml" Id="R8898644203fe4a0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ba7238765fd4601" /><Relationship Type="http://schemas.openxmlformats.org/officeDocument/2006/relationships/image" Target="/ppt/media/image11.png" Id="Recd6d37684a748bb" /><Relationship Type="http://schemas.openxmlformats.org/officeDocument/2006/relationships/notesSlide" Target="/ppt/notesSlides/notesSlide30.xml" Id="R300453126fa046a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c97b0d2d14e42fe" /><Relationship Type="http://schemas.openxmlformats.org/officeDocument/2006/relationships/notesSlide" Target="/ppt/notesSlides/notesSlide31.xml" Id="R03be2d541c9743e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903d0b9fd224899" /><Relationship Type="http://schemas.openxmlformats.org/officeDocument/2006/relationships/hyperlink" Target="https://dev.mysql.com/doc/refman/8.4/en/replication-gtids-concepts.html" TargetMode="External" Id="Rcebe873865e0487e" /><Relationship Type="http://schemas.openxmlformats.org/officeDocument/2006/relationships/hyperlink" Target="https://debezium.io/documentation/reference/3.4/connectors/mysql.html" TargetMode="External" Id="R1e952cf3308c4b64" /><Relationship Type="http://schemas.openxmlformats.org/officeDocument/2006/relationships/hyperlink" Target="https://debezium.io/documentation/reference/development/engine.html" TargetMode="External" Id="R4bee0759afd24ea4" /><Relationship Type="http://schemas.openxmlformats.org/officeDocument/2006/relationships/hyperlink" Target="https://docs.oracle.com/en-us/iaas/Content/Streaming/Tasks/publishing.htm" TargetMode="External" Id="R84fc502465964308" /><Relationship Type="http://schemas.openxmlformats.org/officeDocument/2006/relationships/hyperlink" Target="https://docs.oracle.com/en-us/iaas/Content/Streaming/Reference/troubleshootingstreaming.htm" TargetMode="External" Id="R2ada6815748f4ddd" /><Relationship Type="http://schemas.openxmlformats.org/officeDocument/2006/relationships/hyperlink" Target="https://dev.mysql.com/doc/refman/8.4/en/packet-too-large.html" TargetMode="External" Id="Ra0b2d9ed358f4dee" /><Relationship Type="http://schemas.openxmlformats.org/officeDocument/2006/relationships/hyperlink" Target="https://docs.oracle.com/en-us/iaas/mysql-database/doc/mysql-enterprise-audit-plugin.html" TargetMode="External" Id="Re6fe6cbf64b94015" /><Relationship Type="http://schemas.openxmlformats.org/officeDocument/2006/relationships/hyperlink" Target="https://github.com/ivanxma/hw_data_audit_center/tree/main/docs" TargetMode="External" Id="Rd7c55bda40b840c5" /><Relationship Type="http://schemas.openxmlformats.org/officeDocument/2006/relationships/notesSlide" Target="/ppt/notesSlides/notesSlide32.xml" Id="R0dbb23e6108a4df7" /></Relationships>
</file>

<file path=ppt/slides/slide1.xml><?xml version="1.0" encoding="utf-8"?>
<p:sld xmlns:p="http://schemas.openxmlformats.org/presentationml/2006/main">
  <p:cSld>
    <p:bg>
      <p:bgPr>
        <a:solidFill xmlns:a="http://schemas.openxmlformats.org/drawingml/2006/main">
          <a:srgbClr val="312D2A"/>
        </a:solidFill>
      </p:bgPr>
    </p:bg>
    <p:spTree>
      <p:nvGrpSpPr>
        <p:cNvPr id="1" name=""/>
        <p:cNvGrpSpPr/>
        <p:nvPr/>
      </p:nvGrpSpPr>
      <p:grpSpPr>
        <a:xfrm xmlns:a="http://schemas.openxmlformats.org/drawingml/2006/main"/>
      </p:grpSpPr>
      <p:sp>
        <p:nvSpPr>
          <p:cNvPr id="1" name="brand-rule-72-72">
            <a:extLst xmlns:a="http://schemas.openxmlformats.org/drawingml/2006/main">
              <a:ext uri="{FF2B5EF4-FFF2-40B4-BE49-F238E27FC236}">
                <a16:creationId xmlns:a16="http://schemas.microsoft.com/office/drawing/2014/main" id="{E1844DCF-4A02-4148-B255-F17F5DDC283F}"/>
              </a:ext>
            </a:extLst>
          </p:cNvPr>
          <p:cNvSpPr>
            <a:spLocks xmlns:a="http://schemas.openxmlformats.org/drawingml/2006/main" noGrp="1"/>
          </p:cNvSpPr>
          <p:nvPr/>
        </p:nvSpPr>
        <p:spPr>
          <a:xfrm xmlns:a="http://schemas.openxmlformats.org/drawingml/2006/main">
            <a:off x="685800" y="685800"/>
            <a:ext cx="1143000" cy="952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edition">
            <a:extLst xmlns:a="http://schemas.openxmlformats.org/drawingml/2006/main">
              <a:ext uri="{FF2B5EF4-FFF2-40B4-BE49-F238E27FC236}">
                <a16:creationId xmlns:a16="http://schemas.microsoft.com/office/drawing/2014/main" id="{CF3A832D-2FB6-4FA9-BA31-E393BEBEB81E}"/>
              </a:ext>
            </a:extLst>
          </p:cNvPr>
          <p:cNvSpPr>
            <a:spLocks xmlns:a="http://schemas.openxmlformats.org/drawingml/2006/main" noGrp="1"/>
          </p:cNvSpPr>
          <p:nvPr/>
        </p:nvSpPr>
        <p:spPr>
          <a:xfrm xmlns:a="http://schemas.openxmlformats.org/drawingml/2006/main">
            <a:off x="685800" y="1066800"/>
            <a:ext cx="13868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725" b="1">
                <a:solidFill>
                  <a:srgbClr val="D8CDC1"/>
                </a:solidFill>
                <a:latin typeface="Arial"/>
                <a:ea typeface="Arial"/>
                <a:cs typeface="Arial"/>
              </a:rPr>
              <a:t>NATIVE OCI STREAMING  ·  OCTOBER 2026</a:t>
            </a:r>
          </a:p>
        </p:txBody>
      </p:sp>
      <p:sp>
        <p:nvSpPr>
          <p:cNvPr id="3" name="product-title">
            <a:extLst xmlns:a="http://schemas.openxmlformats.org/drawingml/2006/main">
              <a:ext uri="{FF2B5EF4-FFF2-40B4-BE49-F238E27FC236}">
                <a16:creationId xmlns:a16="http://schemas.microsoft.com/office/drawing/2014/main" id="{043D3A40-D42D-4C03-94C7-5517F8387268}"/>
              </a:ext>
            </a:extLst>
          </p:cNvPr>
          <p:cNvSpPr>
            <a:spLocks xmlns:a="http://schemas.openxmlformats.org/drawingml/2006/main" noGrp="1"/>
          </p:cNvSpPr>
          <p:nvPr/>
        </p:nvSpPr>
        <p:spPr>
          <a:xfrm xmlns:a="http://schemas.openxmlformats.org/drawingml/2006/main">
            <a:off x="685800" y="2476500"/>
            <a:ext cx="13868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HeatWave Audit Center</a:t>
            </a:r>
          </a:p>
        </p:txBody>
      </p:sp>
      <p:sp>
        <p:nvSpPr>
          <p:cNvPr id="4" name="purpose">
            <a:extLst xmlns:a="http://schemas.openxmlformats.org/drawingml/2006/main">
              <a:ext uri="{FF2B5EF4-FFF2-40B4-BE49-F238E27FC236}">
                <a16:creationId xmlns:a16="http://schemas.microsoft.com/office/drawing/2014/main" id="{9961591C-28B4-47AD-B8A2-223D80C27874}"/>
              </a:ext>
            </a:extLst>
          </p:cNvPr>
          <p:cNvSpPr>
            <a:spLocks xmlns:a="http://schemas.openxmlformats.org/drawingml/2006/main" noGrp="1"/>
          </p:cNvSpPr>
          <p:nvPr/>
        </p:nvSpPr>
        <p:spPr>
          <a:xfrm xmlns:a="http://schemas.openxmlformats.org/drawingml/2006/main">
            <a:off x="685800" y="3857625"/>
            <a:ext cx="1219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000">
                <a:solidFill>
                  <a:srgbClr val="E3DDD5"/>
                </a:solidFill>
                <a:latin typeface="Arial"/>
                <a:ea typeface="Arial"/>
                <a:cs typeface="Arial"/>
              </a:rPr>
              <a:t>Capture selected row changes. Preserve their context.</a:t>
            </a:r>
          </a:p>
          <a:p xmlns:a="http://schemas.openxmlformats.org/drawingml/2006/main">
            <a:pPr marL="0">
              <a:buNone/>
            </a:pPr>
            <a:r>
              <a:rPr sz="3000">
                <a:solidFill>
                  <a:srgbClr val="E3DDD5"/>
                </a:solidFill>
                <a:latin typeface="Arial"/>
                <a:ea typeface="Arial"/>
                <a:cs typeface="Arial"/>
              </a:rPr>
              <a:t>Recover with full offsets and validated GTID boundaries.</a:t>
            </a:r>
          </a:p>
        </p:txBody>
      </p:sp>
      <p:sp>
        <p:nvSpPr>
          <p:cNvPr id="5" name="scope">
            <a:extLst xmlns:a="http://schemas.openxmlformats.org/drawingml/2006/main">
              <a:ext uri="{FF2B5EF4-FFF2-40B4-BE49-F238E27FC236}">
                <a16:creationId xmlns:a16="http://schemas.microsoft.com/office/drawing/2014/main" id="{67516157-0CAB-4C31-8E39-C0D189546055}"/>
              </a:ext>
            </a:extLst>
          </p:cNvPr>
          <p:cNvSpPr>
            <a:spLocks xmlns:a="http://schemas.openxmlformats.org/drawingml/2006/main" noGrp="1"/>
          </p:cNvSpPr>
          <p:nvPr/>
        </p:nvSpPr>
        <p:spPr>
          <a:xfrm xmlns:a="http://schemas.openxmlformats.org/drawingml/2006/main">
            <a:off x="685800" y="6572250"/>
            <a:ext cx="13868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6BEB3"/>
                </a:solidFill>
                <a:latin typeface="Arial"/>
                <a:ea typeface="Arial"/>
                <a:cs typeface="Arial"/>
              </a:defRPr>
            </a:pPr>
            <a:r>
              <a:rPr sz="2100" b="0">
                <a:solidFill>
                  <a:srgbClr val="C6BEB3"/>
                </a:solidFill>
                <a:latin typeface="Arial"/>
                <a:ea typeface="Arial"/>
                <a:cs typeface="Arial"/>
              </a:rPr>
              <a:t>Oracle Linux 9  ·  OCI  ·  Source and target HeatWave</a:t>
            </a:r>
          </a:p>
        </p:txBody>
      </p:sp>
      <p:sp>
        <p:nvSpPr>
          <p:cNvPr id="6" name="disclaimer">
            <a:extLst xmlns:a="http://schemas.openxmlformats.org/drawingml/2006/main">
              <a:ext uri="{FF2B5EF4-FFF2-40B4-BE49-F238E27FC236}">
                <a16:creationId xmlns:a16="http://schemas.microsoft.com/office/drawing/2014/main" id="{E76F49C1-A090-44A3-B257-219274A1BEBA}"/>
              </a:ext>
            </a:extLst>
          </p:cNvPr>
          <p:cNvSpPr>
            <a:spLocks xmlns:a="http://schemas.openxmlformats.org/drawingml/2006/main" noGrp="1"/>
          </p:cNvSpPr>
          <p:nvPr/>
        </p:nvSpPr>
        <p:spPr>
          <a:xfrm xmlns:a="http://schemas.openxmlformats.org/drawingml/2006/main">
            <a:off x="685800" y="7810500"/>
            <a:ext cx="13868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BFB5A8"/>
                </a:solidFill>
                <a:latin typeface="Arial"/>
                <a:ea typeface="Arial"/>
                <a:cs typeface="Arial"/>
              </a:defRPr>
            </a:pPr>
            <a:r>
              <a:rPr sz="1605" b="0">
                <a:solidFill>
                  <a:srgbClr val="BFB5A8"/>
                </a:solidFill>
                <a:latin typeface="Arial"/>
                <a:ea typeface="Arial"/>
                <a:cs typeface="Arial"/>
              </a:rPr>
              <a:t>Oracle-style project presentation; not an Oracle publication or endorsement.</a:t>
            </a:r>
          </a:p>
        </p:txBody>
      </p:sp>
    </p:spTree>
    <p:extLst>
      <p:ext uri="{BB962C8B-B14F-4D97-AF65-F5344CB8AC3E}">
        <p14:creationId xmlns:p14="http://schemas.microsoft.com/office/powerpoint/2010/main" val="2113758147"/>
      </p:ext>
    </p:extLst>
  </p:cSld>
</p:sld>
</file>

<file path=ppt/slides/slide2.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1C9BDAB9-1DC9-409D-8D52-9531AFB9B91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DE1CF5EA-ABAB-4C7B-A3C4-A81D0C4A077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IMPORTANT INFORMATION</a:t>
            </a:r>
          </a:p>
        </p:txBody>
      </p:sp>
      <p:sp>
        <p:nvSpPr>
          <p:cNvPr id="3" name="title">
            <a:extLst xmlns:a="http://schemas.openxmlformats.org/drawingml/2006/main">
              <a:ext uri="{FF2B5EF4-FFF2-40B4-BE49-F238E27FC236}">
                <a16:creationId xmlns:a16="http://schemas.microsoft.com/office/drawing/2014/main" id="{8B17F05A-B78D-4662-9E5B-9748F774E88D}"/>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Safe harbor statement</a:t>
            </a:r>
          </a:p>
        </p:txBody>
      </p:sp>
      <p:sp>
        <p:nvSpPr>
          <p:cNvPr id="4" name="brand-rule-72-831">
            <a:extLst xmlns:a="http://schemas.openxmlformats.org/drawingml/2006/main">
              <a:ext uri="{FF2B5EF4-FFF2-40B4-BE49-F238E27FC236}">
                <a16:creationId xmlns:a16="http://schemas.microsoft.com/office/drawing/2014/main" id="{F65C877A-6DC2-4D60-A25D-B1D6E37836F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31E15A7-69CD-4A54-9F90-E26DAFEB7561}"/>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69F985CD-CE65-44A0-8661-273252289A1D}"/>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02</a:t>
            </a:r>
          </a:p>
        </p:txBody>
      </p:sp>
      <p:sp>
        <p:nvSpPr>
          <p:cNvPr id="7" name="safe-harbor">
            <a:extLst xmlns:a="http://schemas.openxmlformats.org/drawingml/2006/main">
              <a:ext uri="{FF2B5EF4-FFF2-40B4-BE49-F238E27FC236}">
                <a16:creationId xmlns:a16="http://schemas.microsoft.com/office/drawing/2014/main" id="{867EA04A-7D0D-4132-AFC7-ACD1E17342B8}"/>
              </a:ext>
            </a:extLst>
          </p:cNvPr>
          <p:cNvSpPr>
            <a:spLocks xmlns:a="http://schemas.openxmlformats.org/drawingml/2006/main" noGrp="1"/>
          </p:cNvSpPr>
          <p:nvPr/>
        </p:nvSpPr>
        <p:spPr>
          <a:xfrm xmlns:a="http://schemas.openxmlformats.org/drawingml/2006/main">
            <a:off x="685800" y="2628900"/>
            <a:ext cx="1333500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312D2A"/>
                </a:solidFill>
                <a:latin typeface="Arial"/>
                <a:ea typeface="Arial"/>
                <a:cs typeface="Arial"/>
              </a:defRPr>
            </a:pPr>
            <a:r>
              <a:rPr sz="2550" b="0">
                <a:solidFill>
                  <a:srgbClr val="312D2A"/>
                </a:solidFill>
                <a:latin typeface="Arial"/>
                <a:ea typeface="Arial"/>
                <a:cs typeface="Arial"/>
              </a:rPr>
              <a:t>The following is intended to outline our general product direction. It is intended for information purposes only, and may not be incorporated into any contract. It is not a commitment to deliver any material, code, or functionality, and should not be relied upon in making purchasing decisions. The development, release, timing, and pricing of any features or functionality described for Oracle’s products may change and remains at the sole discretion of Oracle Corporation.</a:t>
            </a:r>
          </a:p>
        </p:txBody>
      </p:sp>
    </p:spTree>
    <p:extLst>
      <p:ext uri="{BB962C8B-B14F-4D97-AF65-F5344CB8AC3E}">
        <p14:creationId xmlns:p14="http://schemas.microsoft.com/office/powerpoint/2010/main" val="92750290"/>
      </p:ext>
    </p:extLst>
  </p:cSld>
</p:sld>
</file>

<file path=ppt/slides/slide3.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314A9145-D06D-48E7-B74C-1D08E3951672}"/>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90357DED-1EE1-4018-8602-84F70739AE3C}"/>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BACKGROUND</a:t>
            </a:r>
          </a:p>
        </p:txBody>
      </p:sp>
      <p:sp>
        <p:nvSpPr>
          <p:cNvPr id="3" name="title">
            <a:extLst xmlns:a="http://schemas.openxmlformats.org/drawingml/2006/main">
              <a:ext uri="{FF2B5EF4-FFF2-40B4-BE49-F238E27FC236}">
                <a16:creationId xmlns:a16="http://schemas.microsoft.com/office/drawing/2014/main" id="{80624566-7BC0-4AD3-A0B2-8A473EC0EB46}"/>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A current row cannot explain its history</a:t>
            </a:r>
          </a:p>
        </p:txBody>
      </p:sp>
      <p:sp>
        <p:nvSpPr>
          <p:cNvPr id="4" name="brand-rule-72-831">
            <a:extLst xmlns:a="http://schemas.openxmlformats.org/drawingml/2006/main">
              <a:ext uri="{FF2B5EF4-FFF2-40B4-BE49-F238E27FC236}">
                <a16:creationId xmlns:a16="http://schemas.microsoft.com/office/drawing/2014/main" id="{0D14C725-5CF8-4407-BAB2-3367F87FFCB9}"/>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E564B513-368D-444C-A983-2D16A270001F}"/>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5C5EF062-155E-480E-81F6-18FB95F95D2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03</a:t>
            </a:r>
          </a:p>
        </p:txBody>
      </p:sp>
      <p:sp>
        <p:nvSpPr>
          <p:cNvPr id="7" name="question">
            <a:extLst xmlns:a="http://schemas.openxmlformats.org/drawingml/2006/main">
              <a:ext uri="{FF2B5EF4-FFF2-40B4-BE49-F238E27FC236}">
                <a16:creationId xmlns:a16="http://schemas.microsoft.com/office/drawing/2014/main" id="{B56E6E24-4861-42EA-AD4A-92D17414AECE}"/>
              </a:ext>
            </a:extLst>
          </p:cNvPr>
          <p:cNvSpPr>
            <a:spLocks xmlns:a="http://schemas.openxmlformats.org/drawingml/2006/main" noGrp="1"/>
          </p:cNvSpPr>
          <p:nvPr/>
        </p:nvSpPr>
        <p:spPr>
          <a:xfrm xmlns:a="http://schemas.openxmlformats.org/drawingml/2006/main">
            <a:off x="685800" y="2571750"/>
            <a:ext cx="6191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4650" b="1">
                <a:solidFill>
                  <a:srgbClr val="312D2A"/>
                </a:solidFill>
                <a:latin typeface="Arial"/>
                <a:ea typeface="Arial"/>
                <a:cs typeface="Arial"/>
              </a:defRPr>
            </a:pPr>
            <a:r>
              <a:rPr sz="4650" b="1">
                <a:solidFill>
                  <a:srgbClr val="312D2A"/>
                </a:solidFill>
                <a:latin typeface="Arial"/>
                <a:ea typeface="Arial"/>
                <a:cs typeface="Arial"/>
              </a:rPr>
              <a:t>What happened to</a:t>
            </a:r>
          </a:p>
          <a:p xmlns:a="http://schemas.openxmlformats.org/drawingml/2006/main">
            <a:pPr>
              <a:buNone/>
              <a:defRPr sz="4650" b="1">
                <a:solidFill>
                  <a:srgbClr val="312D2A"/>
                </a:solidFill>
                <a:latin typeface="Arial"/>
                <a:ea typeface="Arial"/>
                <a:cs typeface="Arial"/>
              </a:defRPr>
            </a:pPr>
            <a:r>
              <a:rPr sz="4650" b="1">
                <a:solidFill>
                  <a:srgbClr val="312D2A"/>
                </a:solidFill>
                <a:latin typeface="Arial"/>
                <a:ea typeface="Arial"/>
                <a:cs typeface="Arial"/>
              </a:rPr>
              <a:t>order 1042?</a:t>
            </a:r>
          </a:p>
        </p:txBody>
      </p:sp>
      <p:sp>
        <p:nvSpPr>
          <p:cNvPr id="8" name="example">
            <a:extLst xmlns:a="http://schemas.openxmlformats.org/drawingml/2006/main">
              <a:ext uri="{FF2B5EF4-FFF2-40B4-BE49-F238E27FC236}">
                <a16:creationId xmlns:a16="http://schemas.microsoft.com/office/drawing/2014/main" id="{6C837988-1FBD-41A6-B717-D8D0D49EA4E1}"/>
              </a:ext>
            </a:extLst>
          </p:cNvPr>
          <p:cNvSpPr>
            <a:spLocks xmlns:a="http://schemas.openxmlformats.org/drawingml/2006/main" noGrp="1"/>
          </p:cNvSpPr>
          <p:nvPr/>
        </p:nvSpPr>
        <p:spPr>
          <a:xfrm xmlns:a="http://schemas.openxmlformats.org/drawingml/2006/main">
            <a:off x="685800" y="4762500"/>
            <a:ext cx="6000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550" b="0">
                <a:solidFill>
                  <a:srgbClr val="AE562C"/>
                </a:solidFill>
                <a:latin typeface="Arial"/>
                <a:ea typeface="Arial"/>
                <a:cs typeface="Arial"/>
              </a:defRPr>
            </a:pPr>
            <a:r>
              <a:rPr sz="2550" b="0">
                <a:solidFill>
                  <a:srgbClr val="AE562C"/>
                </a:solidFill>
                <a:latin typeface="Arial"/>
                <a:ea typeface="Arial"/>
                <a:cs typeface="Arial"/>
              </a:rPr>
              <a:t>Current value: status = paid</a:t>
            </a:r>
          </a:p>
        </p:txBody>
      </p:sp>
      <p:sp>
        <p:nvSpPr>
          <p:cNvPr id="9" name="context">
            <a:extLst xmlns:a="http://schemas.openxmlformats.org/drawingml/2006/main">
              <a:ext uri="{FF2B5EF4-FFF2-40B4-BE49-F238E27FC236}">
                <a16:creationId xmlns:a16="http://schemas.microsoft.com/office/drawing/2014/main" id="{6C541CFA-9888-4430-B5A7-98EEE76C266B}"/>
              </a:ext>
            </a:extLst>
          </p:cNvPr>
          <p:cNvSpPr>
            <a:spLocks xmlns:a="http://schemas.openxmlformats.org/drawingml/2006/main" noGrp="1"/>
          </p:cNvSpPr>
          <p:nvPr/>
        </p:nvSpPr>
        <p:spPr>
          <a:xfrm xmlns:a="http://schemas.openxmlformats.org/drawingml/2006/main">
            <a:off x="685800" y="5753100"/>
            <a:ext cx="6096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6F6861"/>
                </a:solidFill>
                <a:latin typeface="Arial"/>
                <a:ea typeface="Arial"/>
                <a:cs typeface="Arial"/>
              </a:defRPr>
            </a:pPr>
            <a:r>
              <a:rPr sz="2100" b="0">
                <a:solidFill>
                  <a:srgbClr val="6F6861"/>
                </a:solidFill>
                <a:latin typeface="Arial"/>
                <a:ea typeface="Arial"/>
                <a:cs typeface="Arial"/>
              </a:rPr>
              <a:t>A row alone does not show the previous value,</a:t>
            </a:r>
          </a:p>
          <a:p xmlns:a="http://schemas.openxmlformats.org/drawingml/2006/main">
            <a:pPr>
              <a:buNone/>
              <a:defRPr sz="2100" b="0">
                <a:solidFill>
                  <a:srgbClr val="6F6861"/>
                </a:solidFill>
                <a:latin typeface="Arial"/>
                <a:ea typeface="Arial"/>
                <a:cs typeface="Arial"/>
              </a:defRPr>
            </a:pPr>
            <a:r>
              <a:rPr sz="2100" b="0">
                <a:solidFill>
                  <a:srgbClr val="6F6861"/>
                </a:solidFill>
                <a:latin typeface="Arial"/>
                <a:ea typeface="Arial"/>
                <a:cs typeface="Arial"/>
              </a:rPr>
              <a:t>the sequence of changes or a deleted state.</a:t>
            </a:r>
          </a:p>
        </p:txBody>
      </p:sp>
      <p:sp>
        <p:nvSpPr>
          <p:cNvPr id="10" name="bullet-0">
            <a:extLst xmlns:a="http://schemas.openxmlformats.org/drawingml/2006/main">
              <a:ext uri="{FF2B5EF4-FFF2-40B4-BE49-F238E27FC236}">
                <a16:creationId xmlns:a16="http://schemas.microsoft.com/office/drawing/2014/main" id="{CDEB70EC-925E-4842-AC56-C06A80D19F23}"/>
              </a:ext>
            </a:extLst>
          </p:cNvPr>
          <p:cNvSpPr>
            <a:spLocks xmlns:a="http://schemas.openxmlformats.org/drawingml/2006/main" noGrp="1"/>
          </p:cNvSpPr>
          <p:nvPr/>
        </p:nvSpPr>
        <p:spPr>
          <a:xfrm xmlns:a="http://schemas.openxmlformats.org/drawingml/2006/main">
            <a:off x="7810500" y="2571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C74634"/>
                </a:solidFill>
                <a:latin typeface="Arial"/>
                <a:ea typeface="Arial"/>
                <a:cs typeface="Arial"/>
              </a:defRPr>
            </a:pPr>
            <a:r>
              <a:rPr sz="2475"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0891BD8D-F4B1-4058-BFFD-D1FBAB06712A}"/>
              </a:ext>
            </a:extLst>
          </p:cNvPr>
          <p:cNvSpPr>
            <a:spLocks xmlns:a="http://schemas.openxmlformats.org/drawingml/2006/main" noGrp="1"/>
          </p:cNvSpPr>
          <p:nvPr/>
        </p:nvSpPr>
        <p:spPr>
          <a:xfrm xmlns:a="http://schemas.openxmlformats.org/drawingml/2006/main">
            <a:off x="8134350" y="2571750"/>
            <a:ext cx="624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312D2A"/>
                </a:solidFill>
                <a:latin typeface="Arial"/>
                <a:ea typeface="Arial"/>
                <a:cs typeface="Arial"/>
              </a:defRPr>
            </a:pPr>
            <a:r>
              <a:rPr sz="2475" b="0">
                <a:solidFill>
                  <a:srgbClr val="312D2A"/>
                </a:solidFill>
                <a:latin typeface="Arial"/>
                <a:ea typeface="Arial"/>
                <a:cs typeface="Arial"/>
              </a:rPr>
              <a:t>Capture committed INSERT, UPDATE and DELETE events.</a:t>
            </a:r>
          </a:p>
        </p:txBody>
      </p:sp>
      <p:sp>
        <p:nvSpPr>
          <p:cNvPr id="12" name="bullet-1">
            <a:extLst xmlns:a="http://schemas.openxmlformats.org/drawingml/2006/main">
              <a:ext uri="{FF2B5EF4-FFF2-40B4-BE49-F238E27FC236}">
                <a16:creationId xmlns:a16="http://schemas.microsoft.com/office/drawing/2014/main" id="{31565762-CD64-48D3-A23B-FE0F47BE5457}"/>
              </a:ext>
            </a:extLst>
          </p:cNvPr>
          <p:cNvSpPr>
            <a:spLocks xmlns:a="http://schemas.openxmlformats.org/drawingml/2006/main" noGrp="1"/>
          </p:cNvSpPr>
          <p:nvPr/>
        </p:nvSpPr>
        <p:spPr>
          <a:xfrm xmlns:a="http://schemas.openxmlformats.org/drawingml/2006/main">
            <a:off x="7810500" y="404812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C74634"/>
                </a:solidFill>
                <a:latin typeface="Arial"/>
                <a:ea typeface="Arial"/>
                <a:cs typeface="Arial"/>
              </a:defRPr>
            </a:pPr>
            <a:r>
              <a:rPr sz="2475"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714CB45C-9BC8-4431-98F1-34CF4B7EC61C}"/>
              </a:ext>
            </a:extLst>
          </p:cNvPr>
          <p:cNvSpPr>
            <a:spLocks xmlns:a="http://schemas.openxmlformats.org/drawingml/2006/main" noGrp="1"/>
          </p:cNvSpPr>
          <p:nvPr/>
        </p:nvSpPr>
        <p:spPr>
          <a:xfrm xmlns:a="http://schemas.openxmlformats.org/drawingml/2006/main">
            <a:off x="8134350" y="4048125"/>
            <a:ext cx="624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312D2A"/>
                </a:solidFill>
                <a:latin typeface="Arial"/>
                <a:ea typeface="Arial"/>
                <a:cs typeface="Arial"/>
              </a:defRPr>
            </a:pPr>
            <a:r>
              <a:rPr sz="2475" b="0">
                <a:solidFill>
                  <a:srgbClr val="312D2A"/>
                </a:solidFill>
                <a:latin typeface="Arial"/>
                <a:ea typeface="Arial"/>
                <a:cs typeface="Arial"/>
              </a:rPr>
              <a:t>Keep BEFORE / AFTER values with source evidence.</a:t>
            </a:r>
          </a:p>
        </p:txBody>
      </p:sp>
      <p:sp>
        <p:nvSpPr>
          <p:cNvPr id="14" name="bullet-2">
            <a:extLst xmlns:a="http://schemas.openxmlformats.org/drawingml/2006/main">
              <a:ext uri="{FF2B5EF4-FFF2-40B4-BE49-F238E27FC236}">
                <a16:creationId xmlns:a16="http://schemas.microsoft.com/office/drawing/2014/main" id="{DDC57E3F-64FB-41DF-86B2-68AFF5E81A39}"/>
              </a:ext>
            </a:extLst>
          </p:cNvPr>
          <p:cNvSpPr>
            <a:spLocks xmlns:a="http://schemas.openxmlformats.org/drawingml/2006/main" noGrp="1"/>
          </p:cNvSpPr>
          <p:nvPr/>
        </p:nvSpPr>
        <p:spPr>
          <a:xfrm xmlns:a="http://schemas.openxmlformats.org/drawingml/2006/main">
            <a:off x="7810500" y="55245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C74634"/>
                </a:solidFill>
                <a:latin typeface="Arial"/>
                <a:ea typeface="Arial"/>
                <a:cs typeface="Arial"/>
              </a:defRPr>
            </a:pPr>
            <a:r>
              <a:rPr sz="2475"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FED1BD38-7BD0-4D1F-9373-0DA813F959DD}"/>
              </a:ext>
            </a:extLst>
          </p:cNvPr>
          <p:cNvSpPr>
            <a:spLocks xmlns:a="http://schemas.openxmlformats.org/drawingml/2006/main" noGrp="1"/>
          </p:cNvSpPr>
          <p:nvPr/>
        </p:nvSpPr>
        <p:spPr>
          <a:xfrm xmlns:a="http://schemas.openxmlformats.org/drawingml/2006/main">
            <a:off x="8134350" y="5524500"/>
            <a:ext cx="62484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75" b="0">
                <a:solidFill>
                  <a:srgbClr val="312D2A"/>
                </a:solidFill>
                <a:latin typeface="Arial"/>
                <a:ea typeface="Arial"/>
                <a:cs typeface="Arial"/>
              </a:defRPr>
            </a:pPr>
            <a:r>
              <a:rPr sz="2475" b="0">
                <a:solidFill>
                  <a:srgbClr val="312D2A"/>
                </a:solidFill>
                <a:latin typeface="Arial"/>
                <a:ea typeface="Arial"/>
                <a:cs typeface="Arial"/>
              </a:rPr>
              <a:t>Search a server, table and primary key for its history.</a:t>
            </a:r>
          </a:p>
        </p:txBody>
      </p:sp>
    </p:spTree>
    <p:extLst>
      <p:ext uri="{BB962C8B-B14F-4D97-AF65-F5344CB8AC3E}">
        <p14:creationId xmlns:p14="http://schemas.microsoft.com/office/powerpoint/2010/main" val="906503260"/>
      </p:ext>
    </p:extLst>
  </p:cSld>
</p:sld>
</file>

<file path=ppt/slides/slide4.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F39C0D0-8B19-4EA4-B28E-8C0B3AF4C5F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4D03947-AC59-4F03-BBA1-BBFAB909AB4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CHALLENGES AND SOLUTION</a:t>
            </a:r>
          </a:p>
        </p:txBody>
      </p:sp>
      <p:sp>
        <p:nvSpPr>
          <p:cNvPr id="3" name="title">
            <a:extLst xmlns:a="http://schemas.openxmlformats.org/drawingml/2006/main">
              <a:ext uri="{FF2B5EF4-FFF2-40B4-BE49-F238E27FC236}">
                <a16:creationId xmlns:a16="http://schemas.microsoft.com/office/drawing/2014/main" id="{CF4B8183-6D19-4710-B603-4315A5BB090E}"/>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Capture quality and recovery determine trust</a:t>
            </a:r>
          </a:p>
        </p:txBody>
      </p:sp>
      <p:sp>
        <p:nvSpPr>
          <p:cNvPr id="4" name="brand-rule-72-831">
            <a:extLst xmlns:a="http://schemas.openxmlformats.org/drawingml/2006/main">
              <a:ext uri="{FF2B5EF4-FFF2-40B4-BE49-F238E27FC236}">
                <a16:creationId xmlns:a16="http://schemas.microsoft.com/office/drawing/2014/main" id="{B8897D17-8AD5-46EB-9216-57B2F096823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971D7CF-2F65-42A5-AD0D-8379103F5FC0}"/>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0BCC7790-E105-483D-B4EC-C9123CC37CA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04</a:t>
            </a:r>
          </a:p>
        </p:txBody>
      </p:sp>
      <p:graphicFrame>
        <p:nvGraphicFramePr>
          <p:cNvPr id="14" name=""/>
          <p:cNvGraphicFramePr/>
          <p:nvPr/>
        </p:nvGraphicFramePr>
        <p:xfrm>
          <a:off xmlns:a="http://schemas.openxmlformats.org/drawingml/2006/main" x="685800" y="2362200"/>
          <a:ext xmlns:a="http://schemas.openxmlformats.org/drawingml/2006/main" cx="13868400" cy="4876800"/>
        </p:xfrm>
        <a:graphic xmlns:a="http://schemas.openxmlformats.org/drawingml/2006/main">
          <a:graphicData uri="http://schemas.openxmlformats.org/drawingml/2006/table">
            <a:tbl>
              <a:tblPr/>
              <a:tblGrid>
                <a:gridCol w="4191000"/>
                <a:gridCol w="9677400"/>
              </a:tblGrid>
              <a:tr h="975360">
                <a:tc>
                  <a:txBody>
                    <a:bodyPr lIns="171450" tIns="152400" rIns="171450" bIns="95250" anchor="ctr">
                      <a:noAutofit/>
                    </a:bodyPr>
                    <a:lstStyle/>
                    <a:p>
                      <a:r>
                        <a:rPr sz="2400" b="1">
                          <a:solidFill>
                            <a:srgbClr val="FFFFFF"/>
                          </a:solidFill>
                          <a:latin typeface="Arial"/>
                          <a:ea typeface="Arial"/>
                          <a:cs typeface="Arial"/>
                        </a:rPr>
                        <a:t>Challenge</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Solution in the audit design</a:t>
                      </a:r>
                    </a:p>
                  </a:txBody>
                  <a:tcPr marL="91440" marR="91440" marT="45720" marB="45720">
                    <a:solidFill>
                      <a:srgbClr val="312D2A"/>
                    </a:solidFill>
                  </a:tcPr>
                </a:tc>
              </a:tr>
              <a:tr h="975360">
                <a:tc>
                  <a:txBody>
                    <a:bodyPr lIns="171450" tIns="152400" rIns="171450" bIns="95250" anchor="ctr">
                      <a:noAutofit/>
                    </a:bodyPr>
                    <a:lstStyle/>
                    <a:p>
                      <a:r>
                        <a:rPr sz="2025" b="0">
                          <a:solidFill>
                            <a:srgbClr val="312D2A"/>
                          </a:solidFill>
                          <a:latin typeface="Arial"/>
                          <a:ea typeface="Arial"/>
                          <a:cs typeface="Arial"/>
                        </a:rPr>
                        <a:t>Incomplete row images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Validate ROW + FULL logging and complete JSON values before capture.</a:t>
                      </a:r>
                    </a:p>
                  </a:txBody>
                  <a:tcPr marL="91440" marR="91440" marT="45720" marB="45720">
                    <a:solidFill>
                      <a:srgbClr val="FFFFFF"/>
                    </a:solidFill>
                  </a:tcPr>
                </a:tc>
              </a:tr>
              <a:tr h="975360">
                <a:tc>
                  <a:txBody>
                    <a:bodyPr lIns="171450" tIns="152400" rIns="171450" bIns="95250" anchor="ctr">
                      <a:noAutofit/>
                    </a:bodyPr>
                    <a:lstStyle/>
                    <a:p>
                      <a:r>
                        <a:rPr sz="2025" b="0">
                          <a:solidFill>
                            <a:srgbClr val="312D2A"/>
                          </a:solidFill>
                          <a:latin typeface="Arial"/>
                          <a:ea typeface="Arial"/>
                          <a:cs typeface="Arial"/>
                        </a:rPr>
                        <a:t>Retries and service outages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Durable queue/state, target commit before acknowledgement, event deduplication.</a:t>
                      </a:r>
                    </a:p>
                  </a:txBody>
                  <a:tcPr marL="91440" marR="91440" marT="45720" marB="45720">
                    <a:solidFill>
                      <a:srgbClr val="FFFFFF"/>
                    </a:solidFill>
                  </a:tcPr>
                </a:tc>
              </a:tr>
              <a:tr h="975360">
                <a:tc>
                  <a:txBody>
                    <a:bodyPr lIns="171450" tIns="152400" rIns="171450" bIns="95250" anchor="ctr">
                      <a:noAutofit/>
                    </a:bodyPr>
                    <a:lstStyle/>
                    <a:p>
                      <a:r>
                        <a:rPr sz="2025" b="0">
                          <a:solidFill>
                            <a:srgbClr val="312D2A"/>
                          </a:solidFill>
                          <a:latin typeface="Arial"/>
                          <a:ea typeface="Arial"/>
                          <a:cs typeface="Arial"/>
                        </a:rPr>
                        <a:t>Long histories and slow searches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Row-key index for lookup; monthly partitions for time ranges and retention.</a:t>
                      </a:r>
                    </a:p>
                  </a:txBody>
                  <a:tcPr marL="91440" marR="91440" marT="45720" marB="45720">
                    <a:solidFill>
                      <a:srgbClr val="FFFFFF"/>
                    </a:solidFill>
                  </a:tcPr>
                </a:tc>
              </a:tr>
              <a:tr h="975360">
                <a:tc>
                  <a:txBody>
                    <a:bodyPr lIns="171450" tIns="152400" rIns="171450" bIns="95250" anchor="ctr">
                      <a:noAutofit/>
                    </a:bodyPr>
                    <a:lstStyle/>
                    <a:p>
                      <a:r>
                        <a:rPr sz="2025" b="0">
                          <a:solidFill>
                            <a:srgbClr val="312D2A"/>
                          </a:solidFill>
                          <a:latin typeface="Arial"/>
                          <a:ea typeface="Arial"/>
                          <a:cs typeface="Arial"/>
                        </a:rPr>
                        <a:t>Changing structure and permissions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Separate row, schema and security evidence; display unknown or partial coverage.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52809974"/>
      </p:ext>
    </p:extLst>
  </p:cSld>
</p:sld>
</file>

<file path=ppt/slides/slide5.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795933B8-214F-4BFF-B0A2-011C5D069950}"/>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DCAE05D2-E1B1-4C6C-A892-60729A42C3A8}"/>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SOLUTION OVERVIEW</a:t>
            </a:r>
          </a:p>
        </p:txBody>
      </p:sp>
      <p:sp>
        <p:nvSpPr>
          <p:cNvPr id="3" name="title">
            <a:extLst xmlns:a="http://schemas.openxmlformats.org/drawingml/2006/main">
              <a:ext uri="{FF2B5EF4-FFF2-40B4-BE49-F238E27FC236}">
                <a16:creationId xmlns:a16="http://schemas.microsoft.com/office/drawing/2014/main" id="{9D626524-432C-4D3E-8E60-BB324D6830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One flow connects source changes to audit history</a:t>
            </a:r>
          </a:p>
        </p:txBody>
      </p:sp>
      <p:sp>
        <p:nvSpPr>
          <p:cNvPr id="4" name="subtitle">
            <a:extLst xmlns:a="http://schemas.openxmlformats.org/drawingml/2006/main">
              <a:ext uri="{FF2B5EF4-FFF2-40B4-BE49-F238E27FC236}">
                <a16:creationId xmlns:a16="http://schemas.microsoft.com/office/drawing/2014/main" id="{A5BBCA24-5885-4F9A-8621-F68E1C07AA0A}"/>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A selected source scope feeds native Streaming; audit history retains the observed changes.</a:t>
            </a:r>
          </a:p>
        </p:txBody>
      </p:sp>
      <p:sp>
        <p:nvSpPr>
          <p:cNvPr id="5" name="brand-rule-72-831">
            <a:extLst xmlns:a="http://schemas.openxmlformats.org/drawingml/2006/main">
              <a:ext uri="{FF2B5EF4-FFF2-40B4-BE49-F238E27FC236}">
                <a16:creationId xmlns:a16="http://schemas.microsoft.com/office/drawing/2014/main" id="{054443CF-CA00-4DFB-8412-96E8BB2D80ED}"/>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6B080BED-9E57-4BAF-92A3-95F2DA6B6446}"/>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0A800FD4-B340-4270-BE64-70B7B1588D9D}"/>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05</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eab591172ee44a9"/>
          <a:stretch xmlns:a="http://schemas.openxmlformats.org/drawingml/2006/main"/>
        </p:blipFill>
        <p:spPr>
          <a:xfrm xmlns:a="http://schemas.openxmlformats.org/drawingml/2006/main">
            <a:off x="685800" y="3197434"/>
            <a:ext cx="13868400" cy="1415633"/>
          </a:xfrm>
          <a:prstGeom xmlns:a="http://schemas.openxmlformats.org/drawingml/2006/main" prst="rect">
            <a:avLst/>
          </a:prstGeom>
        </p:spPr>
      </p:pic>
      <p:sp>
        <p:nvSpPr>
          <p:cNvPr id="9" name="label-CAPTURE">
            <a:extLst xmlns:a="http://schemas.openxmlformats.org/drawingml/2006/main">
              <a:ext uri="{FF2B5EF4-FFF2-40B4-BE49-F238E27FC236}">
                <a16:creationId xmlns:a16="http://schemas.microsoft.com/office/drawing/2014/main" id="{F9089778-5722-4781-A25E-24BE021FB77A}"/>
              </a:ext>
            </a:extLst>
          </p:cNvPr>
          <p:cNvSpPr>
            <a:spLocks xmlns:a="http://schemas.openxmlformats.org/drawingml/2006/main" noGrp="1"/>
          </p:cNvSpPr>
          <p:nvPr/>
        </p:nvSpPr>
        <p:spPr>
          <a:xfrm xmlns:a="http://schemas.openxmlformats.org/drawingml/2006/main">
            <a:off x="685800" y="5810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CAPTURE</a:t>
            </a:r>
          </a:p>
        </p:txBody>
      </p:sp>
      <p:sp>
        <p:nvSpPr>
          <p:cNvPr id="10" name="capture">
            <a:extLst xmlns:a="http://schemas.openxmlformats.org/drawingml/2006/main">
              <a:ext uri="{FF2B5EF4-FFF2-40B4-BE49-F238E27FC236}">
                <a16:creationId xmlns:a16="http://schemas.microsoft.com/office/drawing/2014/main" id="{42B4E444-1F58-4908-89AD-CFA73164571C}"/>
              </a:ext>
            </a:extLst>
          </p:cNvPr>
          <p:cNvSpPr>
            <a:spLocks xmlns:a="http://schemas.openxmlformats.org/drawingml/2006/main" noGrp="1"/>
          </p:cNvSpPr>
          <p:nvPr/>
        </p:nvSpPr>
        <p:spPr>
          <a:xfrm xmlns:a="http://schemas.openxmlformats.org/drawingml/2006/main">
            <a:off x="685800" y="6334125"/>
            <a:ext cx="4048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a:solidFill>
                  <a:srgbClr val="312D2A"/>
                </a:solidFill>
                <a:latin typeface="Arial"/>
                <a:ea typeface="Arial"/>
                <a:cs typeface="Arial"/>
              </a:rPr>
              <a:t>Embedded Debezium Engine</a:t>
            </a:r>
          </a:p>
          <a:p xmlns:a="http://schemas.openxmlformats.org/drawingml/2006/main">
            <a:pPr marL="0">
              <a:buNone/>
            </a:pPr>
            <a:r>
              <a:rPr sz="2250">
                <a:solidFill>
                  <a:srgbClr val="312D2A"/>
                </a:solidFill>
                <a:latin typeface="Arial"/>
                <a:ea typeface="Arial"/>
                <a:cs typeface="Arial"/>
              </a:rPr>
              <a:t>and OCI Java SDK.</a:t>
            </a:r>
          </a:p>
        </p:txBody>
      </p:sp>
      <p:sp>
        <p:nvSpPr>
          <p:cNvPr id="11" name="label-BUFFER">
            <a:extLst xmlns:a="http://schemas.openxmlformats.org/drawingml/2006/main">
              <a:ext uri="{FF2B5EF4-FFF2-40B4-BE49-F238E27FC236}">
                <a16:creationId xmlns:a16="http://schemas.microsoft.com/office/drawing/2014/main" id="{32392EF3-0F43-4703-A331-143127B70DC2}"/>
              </a:ext>
            </a:extLst>
          </p:cNvPr>
          <p:cNvSpPr>
            <a:spLocks xmlns:a="http://schemas.openxmlformats.org/drawingml/2006/main" noGrp="1"/>
          </p:cNvSpPr>
          <p:nvPr/>
        </p:nvSpPr>
        <p:spPr>
          <a:xfrm xmlns:a="http://schemas.openxmlformats.org/drawingml/2006/main">
            <a:off x="5476875" y="5810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BUFFER</a:t>
            </a:r>
          </a:p>
        </p:txBody>
      </p:sp>
      <p:sp>
        <p:nvSpPr>
          <p:cNvPr id="12" name="buffer">
            <a:extLst xmlns:a="http://schemas.openxmlformats.org/drawingml/2006/main">
              <a:ext uri="{FF2B5EF4-FFF2-40B4-BE49-F238E27FC236}">
                <a16:creationId xmlns:a16="http://schemas.microsoft.com/office/drawing/2014/main" id="{C8C5E7FA-3154-44B8-A675-440BCD79B623}"/>
              </a:ext>
            </a:extLst>
          </p:cNvPr>
          <p:cNvSpPr>
            <a:spLocks xmlns:a="http://schemas.openxmlformats.org/drawingml/2006/main" noGrp="1"/>
          </p:cNvSpPr>
          <p:nvPr/>
        </p:nvSpPr>
        <p:spPr>
          <a:xfrm xmlns:a="http://schemas.openxmlformats.org/drawingml/2006/main">
            <a:off x="5476875" y="6334125"/>
            <a:ext cx="4048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a:solidFill>
                  <a:srgbClr val="312D2A"/>
                </a:solidFill>
                <a:latin typeface="Arial"/>
                <a:ea typeface="Arial"/>
                <a:cs typeface="Arial"/>
              </a:rPr>
              <a:t>Native OCI Streaming</a:t>
            </a:r>
          </a:p>
          <a:p xmlns:a="http://schemas.openxmlformats.org/drawingml/2006/main">
            <a:pPr marL="0">
              <a:buNone/>
            </a:pPr>
            <a:r>
              <a:rPr sz="2250">
                <a:solidFill>
                  <a:srgbClr val="312D2A"/>
                </a:solidFill>
                <a:latin typeface="Arial"/>
                <a:ea typeface="Arial"/>
                <a:cs typeface="Arial"/>
              </a:rPr>
              <a:t>retains the delivery buffer.</a:t>
            </a:r>
          </a:p>
        </p:txBody>
      </p:sp>
      <p:sp>
        <p:nvSpPr>
          <p:cNvPr id="13" name="label-PRESERVE">
            <a:extLst xmlns:a="http://schemas.openxmlformats.org/drawingml/2006/main">
              <a:ext uri="{FF2B5EF4-FFF2-40B4-BE49-F238E27FC236}">
                <a16:creationId xmlns:a16="http://schemas.microsoft.com/office/drawing/2014/main" id="{F395866F-A349-4314-8268-04E0F8E41DA3}"/>
              </a:ext>
            </a:extLst>
          </p:cNvPr>
          <p:cNvSpPr>
            <a:spLocks xmlns:a="http://schemas.openxmlformats.org/drawingml/2006/main" noGrp="1"/>
          </p:cNvSpPr>
          <p:nvPr/>
        </p:nvSpPr>
        <p:spPr>
          <a:xfrm xmlns:a="http://schemas.openxmlformats.org/drawingml/2006/main">
            <a:off x="10287000" y="581025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PRESERVE</a:t>
            </a:r>
          </a:p>
        </p:txBody>
      </p:sp>
      <p:sp>
        <p:nvSpPr>
          <p:cNvPr id="14" name="preserve">
            <a:extLst xmlns:a="http://schemas.openxmlformats.org/drawingml/2006/main">
              <a:ext uri="{FF2B5EF4-FFF2-40B4-BE49-F238E27FC236}">
                <a16:creationId xmlns:a16="http://schemas.microsoft.com/office/drawing/2014/main" id="{DD3CE162-500E-4CC5-B356-79A120FD25B1}"/>
              </a:ext>
            </a:extLst>
          </p:cNvPr>
          <p:cNvSpPr>
            <a:spLocks xmlns:a="http://schemas.openxmlformats.org/drawingml/2006/main" noGrp="1"/>
          </p:cNvSpPr>
          <p:nvPr/>
        </p:nvSpPr>
        <p:spPr>
          <a:xfrm xmlns:a="http://schemas.openxmlformats.org/drawingml/2006/main">
            <a:off x="10287000" y="6334125"/>
            <a:ext cx="4267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a:solidFill>
                  <a:srgbClr val="312D2A"/>
                </a:solidFill>
                <a:latin typeface="Arial"/>
                <a:ea typeface="Arial"/>
                <a:cs typeface="Arial"/>
              </a:rPr>
              <a:t>Python OCI SDK writer</a:t>
            </a:r>
          </a:p>
          <a:p xmlns:a="http://schemas.openxmlformats.org/drawingml/2006/main">
            <a:pPr marL="0">
              <a:buNone/>
            </a:pPr>
            <a:r>
              <a:rPr sz="2250">
                <a:solidFill>
                  <a:srgbClr val="312D2A"/>
                </a:solidFill>
                <a:latin typeface="Arial"/>
                <a:ea typeface="Arial"/>
                <a:cs typeface="Arial"/>
              </a:rPr>
              <a:t>commits audit evidence.</a:t>
            </a:r>
          </a:p>
        </p:txBody>
      </p:sp>
    </p:spTree>
    <p:extLst>
      <p:ext uri="{BB962C8B-B14F-4D97-AF65-F5344CB8AC3E}">
        <p14:creationId xmlns:p14="http://schemas.microsoft.com/office/powerpoint/2010/main" val="1596341863"/>
      </p:ext>
    </p:extLst>
  </p:cSld>
</p:sld>
</file>

<file path=ppt/slides/slide6.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910F212B-6A23-40CA-B7B1-B4C272122A4D}"/>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BA17E157-47E9-4842-B3AA-4767F551F522}"/>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CAPTURE MECHANICS</a:t>
            </a:r>
          </a:p>
        </p:txBody>
      </p:sp>
      <p:sp>
        <p:nvSpPr>
          <p:cNvPr id="3" name="title">
            <a:extLst xmlns:a="http://schemas.openxmlformats.org/drawingml/2006/main">
              <a:ext uri="{FF2B5EF4-FFF2-40B4-BE49-F238E27FC236}">
                <a16:creationId xmlns:a16="http://schemas.microsoft.com/office/drawing/2014/main" id="{298F4F2C-C7DC-414B-9B91-75DD6CD4B4E9}"/>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MySQL supplies the BEFORE and AFTER images</a:t>
            </a:r>
          </a:p>
        </p:txBody>
      </p:sp>
      <p:sp>
        <p:nvSpPr>
          <p:cNvPr id="4" name="subtitle">
            <a:extLst xmlns:a="http://schemas.openxmlformats.org/drawingml/2006/main">
              <a:ext uri="{FF2B5EF4-FFF2-40B4-BE49-F238E27FC236}">
                <a16:creationId xmlns:a16="http://schemas.microsoft.com/office/drawing/2014/main" id="{15640819-A442-4183-B4BE-8F222EB2813B}"/>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6F6861"/>
                </a:solidFill>
                <a:latin typeface="Arial"/>
                <a:ea typeface="Arial"/>
                <a:cs typeface="Arial"/>
              </a:defRPr>
            </a:pPr>
            <a:r>
              <a:rPr sz="1875" b="0">
                <a:solidFill>
                  <a:srgbClr val="6F6861"/>
                </a:solidFill>
                <a:latin typeface="Arial"/>
                <a:ea typeface="Arial"/>
                <a:cs typeface="Arial"/>
              </a:rPr>
              <a:t>Debezium decodes the row event; it does not reconstruct the old value with a later SELECT.</a:t>
            </a:r>
          </a:p>
        </p:txBody>
      </p:sp>
      <p:sp>
        <p:nvSpPr>
          <p:cNvPr id="5" name="brand-rule-72-831">
            <a:extLst xmlns:a="http://schemas.openxmlformats.org/drawingml/2006/main">
              <a:ext uri="{FF2B5EF4-FFF2-40B4-BE49-F238E27FC236}">
                <a16:creationId xmlns:a16="http://schemas.microsoft.com/office/drawing/2014/main" id="{50BEEFD0-2368-4463-A2B5-B84464DC0759}"/>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1DCE5D3-6A24-4049-B4BF-028BC7F5887E}"/>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476FD7CC-5CD2-4888-81D7-07177727E1B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06</a:t>
            </a:r>
          </a:p>
        </p:txBody>
      </p:sp>
      <p:sp>
        <p:nvSpPr>
          <p:cNvPr id="8" name="label-SOURCE SETTINGS">
            <a:extLst xmlns:a="http://schemas.openxmlformats.org/drawingml/2006/main">
              <a:ext uri="{FF2B5EF4-FFF2-40B4-BE49-F238E27FC236}">
                <a16:creationId xmlns:a16="http://schemas.microsoft.com/office/drawing/2014/main" id="{01BC8D9E-A5A4-4E36-8431-2276B902351D}"/>
              </a:ext>
            </a:extLst>
          </p:cNvPr>
          <p:cNvSpPr>
            <a:spLocks xmlns:a="http://schemas.openxmlformats.org/drawingml/2006/main" noGrp="1"/>
          </p:cNvSpPr>
          <p:nvPr/>
        </p:nvSpPr>
        <p:spPr>
          <a:xfrm xmlns:a="http://schemas.openxmlformats.org/drawingml/2006/main">
            <a:off x="685800" y="26193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SOURCE SETTINGS</a:t>
            </a:r>
          </a:p>
        </p:txBody>
      </p:sp>
      <p:sp>
        <p:nvSpPr>
          <p:cNvPr id="9" name="settings">
            <a:extLst xmlns:a="http://schemas.openxmlformats.org/drawingml/2006/main">
              <a:ext uri="{FF2B5EF4-FFF2-40B4-BE49-F238E27FC236}">
                <a16:creationId xmlns:a16="http://schemas.microsoft.com/office/drawing/2014/main" id="{08932CB8-29CC-42E9-8F3F-A3B7E8639E6B}"/>
              </a:ext>
            </a:extLst>
          </p:cNvPr>
          <p:cNvSpPr>
            <a:spLocks xmlns:a="http://schemas.openxmlformats.org/drawingml/2006/main" noGrp="1"/>
          </p:cNvSpPr>
          <p:nvPr/>
        </p:nvSpPr>
        <p:spPr>
          <a:xfrm xmlns:a="http://schemas.openxmlformats.org/drawingml/2006/main">
            <a:off x="685800" y="3286125"/>
            <a:ext cx="581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Consolas"/>
                <a:ea typeface="Consolas"/>
                <a:cs typeface="Consolas"/>
              </a:defRPr>
            </a:pPr>
            <a:r>
              <a:rPr sz="2250" b="0">
                <a:solidFill>
                  <a:srgbClr val="312D2A"/>
                </a:solidFill>
                <a:latin typeface="Consolas"/>
                <a:ea typeface="Consolas"/>
                <a:cs typeface="Consolas"/>
              </a:rPr>
              <a:t>binlog_format = ROW</a:t>
            </a:r>
          </a:p>
          <a:p xmlns:a="http://schemas.openxmlformats.org/drawingml/2006/main">
            <a:pPr>
              <a:buNone/>
              <a:defRPr sz="2250" b="0">
                <a:solidFill>
                  <a:srgbClr val="312D2A"/>
                </a:solidFill>
                <a:latin typeface="Consolas"/>
                <a:ea typeface="Consolas"/>
                <a:cs typeface="Consolas"/>
              </a:defRPr>
            </a:pPr>
            <a:r>
              <a:rPr sz="2250" b="0">
                <a:solidFill>
                  <a:srgbClr val="312D2A"/>
                </a:solidFill>
                <a:latin typeface="Consolas"/>
                <a:ea typeface="Consolas"/>
                <a:cs typeface="Consolas"/>
              </a:rPr>
              <a:t>binlog_row_image = FULL</a:t>
            </a:r>
          </a:p>
          <a:p xmlns:a="http://schemas.openxmlformats.org/drawingml/2006/main">
            <a:pPr>
              <a:buNone/>
              <a:defRPr sz="2250" b="0">
                <a:solidFill>
                  <a:srgbClr val="312D2A"/>
                </a:solidFill>
                <a:latin typeface="Consolas"/>
                <a:ea typeface="Consolas"/>
                <a:cs typeface="Consolas"/>
              </a:defRPr>
            </a:pPr>
            <a:r>
              <a:rPr sz="2250" b="0">
                <a:solidFill>
                  <a:srgbClr val="312D2A"/>
                </a:solidFill>
                <a:latin typeface="Consolas"/>
                <a:ea typeface="Consolas"/>
                <a:cs typeface="Consolas"/>
              </a:rPr>
              <a:t>binlog_row_value_options = ''</a:t>
            </a:r>
          </a:p>
        </p:txBody>
      </p:sp>
      <p:sp>
        <p:nvSpPr>
          <p:cNvPr id="10" name="source-advice">
            <a:extLst xmlns:a="http://schemas.openxmlformats.org/drawingml/2006/main">
              <a:ext uri="{FF2B5EF4-FFF2-40B4-BE49-F238E27FC236}">
                <a16:creationId xmlns:a16="http://schemas.microsoft.com/office/drawing/2014/main" id="{670CC598-70E1-4F40-8CCB-9C65968AD148}"/>
              </a:ext>
            </a:extLst>
          </p:cNvPr>
          <p:cNvSpPr>
            <a:spLocks xmlns:a="http://schemas.openxmlformats.org/drawingml/2006/main" noGrp="1"/>
          </p:cNvSpPr>
          <p:nvPr/>
        </p:nvSpPr>
        <p:spPr>
          <a:xfrm xmlns:a="http://schemas.openxmlformats.org/drawingml/2006/main">
            <a:off x="685800" y="5715000"/>
            <a:ext cx="5810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6F6861"/>
                </a:solidFill>
                <a:latin typeface="Arial"/>
                <a:ea typeface="Arial"/>
                <a:cs typeface="Arial"/>
              </a:defRPr>
            </a:pPr>
            <a:r>
              <a:rPr sz="2175" b="0">
                <a:solidFill>
                  <a:srgbClr val="6F6861"/>
                </a:solidFill>
                <a:latin typeface="Arial"/>
                <a:ea typeface="Arial"/>
                <a:cs typeface="Arial"/>
              </a:rPr>
              <a:t>Retain binlogs beyond the recovery window.</a:t>
            </a:r>
          </a:p>
          <a:p xmlns:a="http://schemas.openxmlformats.org/drawingml/2006/main">
            <a:pPr>
              <a:buNone/>
              <a:defRPr sz="2175" b="0">
                <a:solidFill>
                  <a:srgbClr val="6F6861"/>
                </a:solidFill>
                <a:latin typeface="Arial"/>
                <a:ea typeface="Arial"/>
                <a:cs typeface="Arial"/>
              </a:defRPr>
            </a:pPr>
            <a:r>
              <a:rPr sz="2175" b="0">
                <a:solidFill>
                  <a:srgbClr val="6F6861"/>
                </a:solidFill>
                <a:latin typeface="Arial"/>
                <a:ea typeface="Arial"/>
                <a:cs typeface="Arial"/>
              </a:rPr>
              <a:t>App check: more than 3 days; initial advice: 7 days.</a:t>
            </a:r>
          </a:p>
        </p:txBody>
      </p:sp>
      <p:graphicFrame>
        <p:nvGraphicFramePr>
          <p:cNvPr id="24" name=""/>
          <p:cNvGraphicFramePr/>
          <p:nvPr/>
        </p:nvGraphicFramePr>
        <p:xfrm>
          <a:off xmlns:a="http://schemas.openxmlformats.org/drawingml/2006/main" x="7096125" y="2552700"/>
          <a:ext xmlns:a="http://schemas.openxmlformats.org/drawingml/2006/main" cx="7458075" cy="4429125"/>
        </p:xfrm>
        <a:graphic xmlns:a="http://schemas.openxmlformats.org/drawingml/2006/main">
          <a:graphicData uri="http://schemas.openxmlformats.org/drawingml/2006/table">
            <a:tbl>
              <a:tblPr/>
              <a:tblGrid>
                <a:gridCol w="2143125"/>
                <a:gridCol w="2657475"/>
                <a:gridCol w="2657475"/>
              </a:tblGrid>
              <a:tr h="885825">
                <a:tc>
                  <a:txBody>
                    <a:bodyPr lIns="171450" tIns="152400" rIns="171450" bIns="95250" anchor="ctr">
                      <a:noAutofit/>
                    </a:bodyPr>
                    <a:lstStyle/>
                    <a:p>
                      <a:r>
                        <a:rPr sz="2400" b="1">
                          <a:solidFill>
                            <a:srgbClr val="FFFFFF"/>
                          </a:solidFill>
                          <a:latin typeface="Arial"/>
                          <a:ea typeface="Arial"/>
                          <a:cs typeface="Arial"/>
                        </a:rPr>
                        <a:t>Operation</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BEFORE</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AFTER</a:t>
                      </a:r>
                    </a:p>
                  </a:txBody>
                  <a:tcPr marL="91440" marR="91440" marT="45720" marB="45720">
                    <a:solidFill>
                      <a:srgbClr val="312D2A"/>
                    </a:solidFill>
                  </a:tcPr>
                </a:tc>
              </a:tr>
              <a:tr h="885825">
                <a:tc>
                  <a:txBody>
                    <a:bodyPr lIns="171450" tIns="152400" rIns="171450" bIns="95250" anchor="ctr">
                      <a:noAutofit/>
                    </a:bodyPr>
                    <a:lstStyle/>
                    <a:p>
                      <a:r>
                        <a:rPr sz="2025" b="0">
                          <a:solidFill>
                            <a:srgbClr val="312D2A"/>
                          </a:solidFill>
                          <a:latin typeface="Arial"/>
                          <a:ea typeface="Arial"/>
                          <a:cs typeface="Arial"/>
                        </a:rPr>
                        <a:t>INSERT</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null</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Inserted row</a:t>
                      </a:r>
                    </a:p>
                  </a:txBody>
                  <a:tcPr marL="91440" marR="91440" marT="45720" marB="45720">
                    <a:solidFill>
                      <a:srgbClr val="FFFFFF"/>
                    </a:solidFill>
                  </a:tcPr>
                </a:tc>
              </a:tr>
              <a:tr h="885825">
                <a:tc>
                  <a:txBody>
                    <a:bodyPr lIns="171450" tIns="152400" rIns="171450" bIns="95250" anchor="ctr">
                      <a:noAutofit/>
                    </a:bodyPr>
                    <a:lstStyle/>
                    <a:p>
                      <a:r>
                        <a:rPr sz="2025" b="0">
                          <a:solidFill>
                            <a:srgbClr val="312D2A"/>
                          </a:solidFill>
                          <a:latin typeface="Arial"/>
                          <a:ea typeface="Arial"/>
                          <a:cs typeface="Arial"/>
                        </a:rPr>
                        <a:t>UPDATE</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Old row</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New row</a:t>
                      </a:r>
                    </a:p>
                  </a:txBody>
                  <a:tcPr marL="91440" marR="91440" marT="45720" marB="45720">
                    <a:solidFill>
                      <a:srgbClr val="FFFFFF"/>
                    </a:solidFill>
                  </a:tcPr>
                </a:tc>
              </a:tr>
              <a:tr h="885825">
                <a:tc>
                  <a:txBody>
                    <a:bodyPr lIns="171450" tIns="152400" rIns="171450" bIns="95250" anchor="ctr">
                      <a:noAutofit/>
                    </a:bodyPr>
                    <a:lstStyle/>
                    <a:p>
                      <a:r>
                        <a:rPr sz="2025" b="0">
                          <a:solidFill>
                            <a:srgbClr val="312D2A"/>
                          </a:solidFill>
                          <a:latin typeface="Arial"/>
                          <a:ea typeface="Arial"/>
                          <a:cs typeface="Arial"/>
                        </a:rPr>
                        <a:t>DELETE</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Deleted row</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null</a:t>
                      </a:r>
                    </a:p>
                  </a:txBody>
                  <a:tcPr marL="91440" marR="91440" marT="45720" marB="45720">
                    <a:solidFill>
                      <a:srgbClr val="FFFFFF"/>
                    </a:solidFill>
                  </a:tcPr>
                </a:tc>
              </a:tr>
              <a:tr h="885825">
                <a:tc>
                  <a:txBody>
                    <a:bodyPr lIns="171450" tIns="152400" rIns="171450" bIns="95250" anchor="ctr">
                      <a:noAutofit/>
                    </a:bodyPr>
                    <a:lstStyle/>
                    <a:p>
                      <a:r>
                        <a:rPr sz="2025" b="0">
                          <a:solidFill>
                            <a:srgbClr val="312D2A"/>
                          </a:solidFill>
                          <a:latin typeface="Arial"/>
                          <a:ea typeface="Arial"/>
                          <a:cs typeface="Arial"/>
                        </a:rPr>
                        <a:t>SNAPSHOT</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null</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Current baseline</a:t>
                      </a:r>
                    </a:p>
                  </a:txBody>
                  <a:tcPr marL="91440" marR="91440" marT="45720" marB="45720">
                    <a:solidFill>
                      <a:srgbClr val="FFFFFF"/>
                    </a:solidFill>
                  </a:tcPr>
                </a:tc>
              </a:tr>
            </a:tbl>
          </a:graphicData>
        </a:graphic>
      </p:graphicFrame>
      <p:sp>
        <p:nvSpPr>
          <p:cNvPr id="12" name="snapshot-limit">
            <a:extLst xmlns:a="http://schemas.openxmlformats.org/drawingml/2006/main">
              <a:ext uri="{FF2B5EF4-FFF2-40B4-BE49-F238E27FC236}">
                <a16:creationId xmlns:a16="http://schemas.microsoft.com/office/drawing/2014/main" id="{229B9E2F-4942-4258-AF5B-5D97F3E855E7}"/>
              </a:ext>
            </a:extLst>
          </p:cNvPr>
          <p:cNvSpPr>
            <a:spLocks xmlns:a="http://schemas.openxmlformats.org/drawingml/2006/main" noGrp="1"/>
          </p:cNvSpPr>
          <p:nvPr/>
        </p:nvSpPr>
        <p:spPr>
          <a:xfrm xmlns:a="http://schemas.openxmlformats.org/drawingml/2006/main">
            <a:off x="7096125" y="7200900"/>
            <a:ext cx="74580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1">
                <a:solidFill>
                  <a:srgbClr val="AE562C"/>
                </a:solidFill>
                <a:latin typeface="Arial"/>
                <a:ea typeface="Arial"/>
                <a:cs typeface="Arial"/>
              </a:defRPr>
            </a:pPr>
            <a:r>
              <a:rPr sz="2025" b="1">
                <a:solidFill>
                  <a:srgbClr val="AE562C"/>
                </a:solidFill>
                <a:latin typeface="Arial"/>
                <a:ea typeface="Arial"/>
                <a:cs typeface="Arial"/>
              </a:rPr>
              <a:t>A snapshot cannot recover earlier changes.</a:t>
            </a:r>
          </a:p>
        </p:txBody>
      </p:sp>
    </p:spTree>
    <p:extLst>
      <p:ext uri="{BB962C8B-B14F-4D97-AF65-F5344CB8AC3E}">
        <p14:creationId xmlns:p14="http://schemas.microsoft.com/office/powerpoint/2010/main" val="478514626"/>
      </p:ext>
    </p:extLst>
  </p:cSld>
</p:sld>
</file>

<file path=ppt/slides/slide7.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55647B72-C143-48A6-A24F-7B3D1FFF4CB1}"/>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72C3D406-8B42-4804-A953-8A433E19BF21}"/>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HOW DATA MOVES</a:t>
            </a:r>
          </a:p>
        </p:txBody>
      </p:sp>
      <p:sp>
        <p:nvSpPr>
          <p:cNvPr id="3" name="title">
            <a:extLst xmlns:a="http://schemas.openxmlformats.org/drawingml/2006/main">
              <a:ext uri="{FF2B5EF4-FFF2-40B4-BE49-F238E27FC236}">
                <a16:creationId xmlns:a16="http://schemas.microsoft.com/office/drawing/2014/main" id="{79A1941E-51B7-4690-AB0D-0AFDAADF4DE9}"/>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The event carries values and an evidence trail</a:t>
            </a:r>
          </a:p>
        </p:txBody>
      </p:sp>
      <p:sp>
        <p:nvSpPr>
          <p:cNvPr id="4" name="subtitle">
            <a:extLst xmlns:a="http://schemas.openxmlformats.org/drawingml/2006/main">
              <a:ext uri="{FF2B5EF4-FFF2-40B4-BE49-F238E27FC236}">
                <a16:creationId xmlns:a16="http://schemas.microsoft.com/office/drawing/2014/main" id="{C3AD6CC3-4764-45F8-B763-2116386FDAD6}"/>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Illustrative UPDATE excerpt; the full envelope also carries schema and source coordinates.</a:t>
            </a:r>
          </a:p>
        </p:txBody>
      </p:sp>
      <p:sp>
        <p:nvSpPr>
          <p:cNvPr id="5" name="brand-rule-72-831">
            <a:extLst xmlns:a="http://schemas.openxmlformats.org/drawingml/2006/main">
              <a:ext uri="{FF2B5EF4-FFF2-40B4-BE49-F238E27FC236}">
                <a16:creationId xmlns:a16="http://schemas.microsoft.com/office/drawing/2014/main" id="{3D96FD12-7AEE-47AA-8230-053EB71AAEFA}"/>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EE98157-D21F-408F-B75B-84488CED6B1D}"/>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5AC099C7-3757-49CB-A820-D2F3CB563F0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07</a:t>
            </a:r>
          </a:p>
        </p:txBody>
      </p:sp>
      <p:sp>
        <p:nvSpPr>
          <p:cNvPr id="8" name="event-json">
            <a:extLst xmlns:a="http://schemas.openxmlformats.org/drawingml/2006/main">
              <a:ext uri="{FF2B5EF4-FFF2-40B4-BE49-F238E27FC236}">
                <a16:creationId xmlns:a16="http://schemas.microsoft.com/office/drawing/2014/main" id="{574DBACF-9CA5-457D-BFFE-46CA919906A9}"/>
              </a:ext>
            </a:extLst>
          </p:cNvPr>
          <p:cNvSpPr>
            <a:spLocks xmlns:a="http://schemas.openxmlformats.org/drawingml/2006/main" noGrp="1"/>
          </p:cNvSpPr>
          <p:nvPr/>
        </p:nvSpPr>
        <p:spPr>
          <a:xfrm xmlns:a="http://schemas.openxmlformats.org/drawingml/2006/main">
            <a:off x="685800" y="2667000"/>
            <a:ext cx="7953375"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a:solidFill>
                  <a:srgbClr val="312D2A"/>
                </a:solidFill>
                <a:latin typeface="Consolas"/>
                <a:ea typeface="Consolas"/>
                <a:cs typeface="Consolas"/>
              </a:rPr>
              <a:t>{</a:t>
            </a:r>
          </a:p>
          <a:p xmlns:a="http://schemas.openxmlformats.org/drawingml/2006/main">
            <a:pPr marL="0">
              <a:buNone/>
            </a:pPr>
            <a:r>
              <a:rPr sz="2175">
                <a:solidFill>
                  <a:srgbClr val="312D2A"/>
                </a:solidFill>
                <a:latin typeface="Consolas"/>
                <a:ea typeface="Consolas"/>
                <a:cs typeface="Consolas"/>
              </a:rPr>
              <a:t>  "op": "u",</a:t>
            </a:r>
          </a:p>
          <a:p xmlns:a="http://schemas.openxmlformats.org/drawingml/2006/main">
            <a:pPr marL="0">
              <a:buNone/>
            </a:pPr>
            <a:r>
              <a:rPr sz="2175">
                <a:solidFill>
                  <a:srgbClr val="312D2A"/>
                </a:solidFill>
                <a:latin typeface="Consolas"/>
                <a:ea typeface="Consolas"/>
                <a:cs typeface="Consolas"/>
              </a:rPr>
              <a:t>  "before": {</a:t>
            </a:r>
          </a:p>
          <a:p xmlns:a="http://schemas.openxmlformats.org/drawingml/2006/main">
            <a:pPr marL="0">
              <a:buNone/>
            </a:pPr>
            <a:r>
              <a:rPr sz="2175">
                <a:solidFill>
                  <a:srgbClr val="312D2A"/>
                </a:solidFill>
                <a:latin typeface="Consolas"/>
                <a:ea typeface="Consolas"/>
                <a:cs typeface="Consolas"/>
              </a:rPr>
              <a:t>    "id": 1042, "status": "new"</a:t>
            </a:r>
          </a:p>
          <a:p xmlns:a="http://schemas.openxmlformats.org/drawingml/2006/main">
            <a:pPr marL="0">
              <a:buNone/>
            </a:pPr>
            <a:r>
              <a:rPr sz="2175">
                <a:solidFill>
                  <a:srgbClr val="312D2A"/>
                </a:solidFill>
                <a:latin typeface="Consolas"/>
                <a:ea typeface="Consolas"/>
                <a:cs typeface="Consolas"/>
              </a:rPr>
              <a:t>  },</a:t>
            </a:r>
          </a:p>
          <a:p xmlns:a="http://schemas.openxmlformats.org/drawingml/2006/main">
            <a:pPr marL="0">
              <a:buNone/>
            </a:pPr>
            <a:r>
              <a:rPr sz="2175">
                <a:solidFill>
                  <a:srgbClr val="312D2A"/>
                </a:solidFill>
                <a:latin typeface="Consolas"/>
                <a:ea typeface="Consolas"/>
                <a:cs typeface="Consolas"/>
              </a:rPr>
              <a:t>  "after": {</a:t>
            </a:r>
          </a:p>
          <a:p xmlns:a="http://schemas.openxmlformats.org/drawingml/2006/main">
            <a:pPr marL="0">
              <a:buNone/>
            </a:pPr>
            <a:r>
              <a:rPr sz="2175">
                <a:solidFill>
                  <a:srgbClr val="312D2A"/>
                </a:solidFill>
                <a:latin typeface="Consolas"/>
                <a:ea typeface="Consolas"/>
                <a:cs typeface="Consolas"/>
              </a:rPr>
              <a:t>    "id": 1042, "status": "paid"</a:t>
            </a:r>
          </a:p>
          <a:p xmlns:a="http://schemas.openxmlformats.org/drawingml/2006/main">
            <a:pPr marL="0">
              <a:buNone/>
            </a:pPr>
            <a:r>
              <a:rPr sz="2175">
                <a:solidFill>
                  <a:srgbClr val="312D2A"/>
                </a:solidFill>
                <a:latin typeface="Consolas"/>
                <a:ea typeface="Consolas"/>
                <a:cs typeface="Consolas"/>
              </a:rPr>
              <a:t>  },</a:t>
            </a:r>
          </a:p>
          <a:p xmlns:a="http://schemas.openxmlformats.org/drawingml/2006/main">
            <a:pPr marL="0">
              <a:buNone/>
            </a:pPr>
            <a:r>
              <a:rPr sz="2175">
                <a:solidFill>
                  <a:srgbClr val="312D2A"/>
                </a:solidFill>
                <a:latin typeface="Consolas"/>
                <a:ea typeface="Consolas"/>
                <a:cs typeface="Consolas"/>
              </a:rPr>
              <a:t>  "source": { "db": "demo_sales", "table": "orders" }</a:t>
            </a:r>
          </a:p>
          <a:p xmlns:a="http://schemas.openxmlformats.org/drawingml/2006/main">
            <a:pPr marL="0">
              <a:buNone/>
            </a:pPr>
            <a:r>
              <a:rPr sz="2175">
                <a:solidFill>
                  <a:srgbClr val="312D2A"/>
                </a:solidFill>
                <a:latin typeface="Consolas"/>
                <a:ea typeface="Consolas"/>
                <a:cs typeface="Consolas"/>
              </a:rPr>
              <a:t>}</a:t>
            </a:r>
          </a:p>
        </p:txBody>
      </p:sp>
      <p:sp>
        <p:nvSpPr>
          <p:cNvPr id="9" name="label-PROCESSOR CONTRACT">
            <a:extLst xmlns:a="http://schemas.openxmlformats.org/drawingml/2006/main">
              <a:ext uri="{FF2B5EF4-FFF2-40B4-BE49-F238E27FC236}">
                <a16:creationId xmlns:a16="http://schemas.microsoft.com/office/drawing/2014/main" id="{96754713-5354-40FE-8DBA-CCCA80454C06}"/>
              </a:ext>
            </a:extLst>
          </p:cNvPr>
          <p:cNvSpPr>
            <a:spLocks xmlns:a="http://schemas.openxmlformats.org/drawingml/2006/main" noGrp="1"/>
          </p:cNvSpPr>
          <p:nvPr/>
        </p:nvSpPr>
        <p:spPr>
          <a:xfrm xmlns:a="http://schemas.openxmlformats.org/drawingml/2006/main">
            <a:off x="9572625" y="26479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PROCESSOR CONTRACT</a:t>
            </a:r>
          </a:p>
        </p:txBody>
      </p:sp>
      <p:sp>
        <p:nvSpPr>
          <p:cNvPr id="10" name="bullet-0">
            <a:extLst xmlns:a="http://schemas.openxmlformats.org/drawingml/2006/main">
              <a:ext uri="{FF2B5EF4-FFF2-40B4-BE49-F238E27FC236}">
                <a16:creationId xmlns:a16="http://schemas.microsoft.com/office/drawing/2014/main" id="{8F634DB7-B6D9-4FF7-BFFA-FCBE1E57E52D}"/>
              </a:ext>
            </a:extLst>
          </p:cNvPr>
          <p:cNvSpPr>
            <a:spLocks xmlns:a="http://schemas.openxmlformats.org/drawingml/2006/main" noGrp="1"/>
          </p:cNvSpPr>
          <p:nvPr/>
        </p:nvSpPr>
        <p:spPr>
          <a:xfrm xmlns:a="http://schemas.openxmlformats.org/drawingml/2006/main">
            <a:off x="9572625"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A9592F60-4FA5-4B71-A93B-4B9896B3D43F}"/>
              </a:ext>
            </a:extLst>
          </p:cNvPr>
          <p:cNvSpPr>
            <a:spLocks xmlns:a="http://schemas.openxmlformats.org/drawingml/2006/main" noGrp="1"/>
          </p:cNvSpPr>
          <p:nvPr/>
        </p:nvSpPr>
        <p:spPr>
          <a:xfrm xmlns:a="http://schemas.openxmlformats.org/drawingml/2006/main">
            <a:off x="9896475" y="3333750"/>
            <a:ext cx="45339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Validate the registered table and complete images.</a:t>
            </a:r>
          </a:p>
        </p:txBody>
      </p:sp>
      <p:sp>
        <p:nvSpPr>
          <p:cNvPr id="12" name="bullet-1">
            <a:extLst xmlns:a="http://schemas.openxmlformats.org/drawingml/2006/main">
              <a:ext uri="{FF2B5EF4-FFF2-40B4-BE49-F238E27FC236}">
                <a16:creationId xmlns:a16="http://schemas.microsoft.com/office/drawing/2014/main" id="{61332A88-B727-4E5C-A3C0-44204FA5DED1}"/>
              </a:ext>
            </a:extLst>
          </p:cNvPr>
          <p:cNvSpPr>
            <a:spLocks xmlns:a="http://schemas.openxmlformats.org/drawingml/2006/main" noGrp="1"/>
          </p:cNvSpPr>
          <p:nvPr/>
        </p:nvSpPr>
        <p:spPr>
          <a:xfrm xmlns:a="http://schemas.openxmlformats.org/drawingml/2006/main">
            <a:off x="9572625" y="469582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300FBB0E-8C65-421E-B43C-1DD277C2EEBC}"/>
              </a:ext>
            </a:extLst>
          </p:cNvPr>
          <p:cNvSpPr>
            <a:spLocks xmlns:a="http://schemas.openxmlformats.org/drawingml/2006/main" noGrp="1"/>
          </p:cNvSpPr>
          <p:nvPr/>
        </p:nvSpPr>
        <p:spPr>
          <a:xfrm xmlns:a="http://schemas.openxmlformats.org/drawingml/2006/main">
            <a:off x="9896475" y="4695825"/>
            <a:ext cx="45339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Compute row, image and event fingerprints.</a:t>
            </a:r>
          </a:p>
        </p:txBody>
      </p:sp>
      <p:sp>
        <p:nvSpPr>
          <p:cNvPr id="14" name="bullet-2">
            <a:extLst xmlns:a="http://schemas.openxmlformats.org/drawingml/2006/main">
              <a:ext uri="{FF2B5EF4-FFF2-40B4-BE49-F238E27FC236}">
                <a16:creationId xmlns:a16="http://schemas.microsoft.com/office/drawing/2014/main" id="{4EDB64C7-19AD-40F7-B58A-30BAD5CD56BC}"/>
              </a:ext>
            </a:extLst>
          </p:cNvPr>
          <p:cNvSpPr>
            <a:spLocks xmlns:a="http://schemas.openxmlformats.org/drawingml/2006/main" noGrp="1"/>
          </p:cNvSpPr>
          <p:nvPr/>
        </p:nvSpPr>
        <p:spPr>
          <a:xfrm xmlns:a="http://schemas.openxmlformats.org/drawingml/2006/main">
            <a:off x="9572625" y="60579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A0E5C832-EB1D-43D1-A4B4-57511437307B}"/>
              </a:ext>
            </a:extLst>
          </p:cNvPr>
          <p:cNvSpPr>
            <a:spLocks xmlns:a="http://schemas.openxmlformats.org/drawingml/2006/main" noGrp="1"/>
          </p:cNvSpPr>
          <p:nvPr/>
        </p:nvSpPr>
        <p:spPr>
          <a:xfrm xmlns:a="http://schemas.openxmlformats.org/drawingml/2006/main">
            <a:off x="9896475" y="6057900"/>
            <a:ext cx="45339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Commit target history before acknowledging the queue.</a:t>
            </a:r>
          </a:p>
        </p:txBody>
      </p:sp>
    </p:spTree>
    <p:extLst>
      <p:ext uri="{BB962C8B-B14F-4D97-AF65-F5344CB8AC3E}">
        <p14:creationId xmlns:p14="http://schemas.microsoft.com/office/powerpoint/2010/main" val="1605516874"/>
      </p:ext>
    </p:extLst>
  </p:cSld>
</p:sld>
</file>

<file path=ppt/slides/slide8.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CAPTURE TO SEARCHABLE HISTORY</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Preserve the images and their capture context</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6F6861"/>
                </a:solidFill>
                <a:latin typeface="Arial"/>
                <a:ea typeface="Arial"/>
                <a:cs typeface="Arial"/>
              </a:defRPr>
            </a:pPr>
            <a:r>
              <a:rPr sz="1875" b="0">
                <a:solidFill>
                  <a:srgbClr val="6F6861"/>
                </a:solidFill>
                <a:latin typeface="Arial"/>
                <a:ea typeface="Arial"/>
                <a:cs typeface="Arial"/>
              </a:rPr>
              <a:t>The processor appends each event; a later source SELECT cannot recover an overwritten value.</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08</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PRESERVE EACH EVENT</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Store BEFORE / AFTER, table, key and schema context.</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Keep source coordinates and event time with the images.</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Commit history and the dedup ledger before queue acknowledgement.</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FIND THE ROW AGAIN</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Enter the complete primary key as typed JSON.</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Compute the same keyed fingerprint used at ingestion.</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Use the row-history index and a bounded time range.</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1">
                <a:solidFill>
                  <a:srgbClr val="AE562C"/>
                </a:solidFill>
                <a:latin typeface="Arial"/>
                <a:ea typeface="Arial"/>
                <a:cs typeface="Arial"/>
              </a:defRPr>
            </a:pPr>
            <a:r>
              <a:rPr sz="2175" b="1">
                <a:solidFill>
                  <a:srgbClr val="AE562C"/>
                </a:solidFill>
                <a:latin typeface="Arial"/>
                <a:ea typeface="Arial"/>
                <a:cs typeface="Arial"/>
              </a:rPr>
              <a:t>Missing or purged binlogs create a coverage gap. A new snapshot establishes a baseline; it does not restore lost history.</a:t>
            </a:r>
          </a:p>
        </p:txBody>
      </p:sp>
    </p:spTree>
    <p:extLst>
      <p:ext uri="{BB962C8B-B14F-4D97-AF65-F5344CB8AC3E}">
        <p14:creationId xmlns:p14="http://schemas.microsoft.com/office/powerpoint/2010/main" val="1445375444"/>
      </p:ext>
    </p:extLst>
  </p:cSld>
</p:sld>
</file>

<file path=ppt/slides/slide9.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4764412-B696-473C-A03C-F0373FE9EA4E}"/>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2AC81C8-A1AD-4165-80F6-DDE552F548C4}"/>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NATIVE OCI DEPLOYMENT</a:t>
            </a:r>
          </a:p>
        </p:txBody>
      </p:sp>
      <p:sp>
        <p:nvSpPr>
          <p:cNvPr id="3" name="title">
            <a:extLst xmlns:a="http://schemas.openxmlformats.org/drawingml/2006/main">
              <a:ext uri="{FF2B5EF4-FFF2-40B4-BE49-F238E27FC236}">
                <a16:creationId xmlns:a16="http://schemas.microsoft.com/office/drawing/2014/main" id="{AF48EDFF-4E69-48B2-9179-83C63E697490}"/>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Private workloads, scoped regional services</a:t>
            </a:r>
          </a:p>
        </p:txBody>
      </p:sp>
      <p:sp>
        <p:nvSpPr>
          <p:cNvPr id="4" name="subtitle">
            <a:extLst xmlns:a="http://schemas.openxmlformats.org/drawingml/2006/main">
              <a:ext uri="{FF2B5EF4-FFF2-40B4-BE49-F238E27FC236}">
                <a16:creationId xmlns:a16="http://schemas.microsoft.com/office/drawing/2014/main" id="{E0788CD1-B2BC-4232-83E7-AF0AF96E1039}"/>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Reference topology with example CIDRs; resources and attachments remain in the VM compartment.</a:t>
            </a:r>
          </a:p>
        </p:txBody>
      </p:sp>
      <p:sp>
        <p:nvSpPr>
          <p:cNvPr id="5" name="brand-rule-72-831">
            <a:extLst xmlns:a="http://schemas.openxmlformats.org/drawingml/2006/main">
              <a:ext uri="{FF2B5EF4-FFF2-40B4-BE49-F238E27FC236}">
                <a16:creationId xmlns:a16="http://schemas.microsoft.com/office/drawing/2014/main" id="{F660F06B-127B-4703-8719-009F762F6E4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5CEBB31-DE10-4394-BE9D-024DC6BC3E4E}"/>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982D625F-55D0-42DD-9076-D5B27E0EF8CD}"/>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09</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1f92dd520fa4067"/>
          <a:stretch xmlns:a="http://schemas.openxmlformats.org/drawingml/2006/main"/>
        </p:blipFill>
        <p:spPr>
          <a:xfrm xmlns:a="http://schemas.openxmlformats.org/drawingml/2006/main">
            <a:off x="3368859" y="2305050"/>
            <a:ext cx="8502284" cy="5305425"/>
          </a:xfrm>
          <a:prstGeom xmlns:a="http://schemas.openxmlformats.org/drawingml/2006/main" prst="rect">
            <a:avLst/>
          </a:prstGeom>
        </p:spPr>
      </p:pic>
    </p:spTree>
    <p:extLst>
      <p:ext uri="{BB962C8B-B14F-4D97-AF65-F5344CB8AC3E}">
        <p14:creationId xmlns:p14="http://schemas.microsoft.com/office/powerpoint/2010/main" val="1454715838"/>
      </p:ext>
    </p:extLst>
  </p:cSld>
</p:sld>
</file>

<file path=ppt/slides/slide10.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1656201D-0C63-43FF-AB49-4BDD920D4127}"/>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25D7E21E-3539-4019-87FC-10E2B863970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CONNECTIVITY AND RECOVERY STATE</a:t>
            </a:r>
          </a:p>
        </p:txBody>
      </p:sp>
      <p:sp>
        <p:nvSpPr>
          <p:cNvPr id="3" name="title">
            <a:extLst xmlns:a="http://schemas.openxmlformats.org/drawingml/2006/main">
              <a:ext uri="{FF2B5EF4-FFF2-40B4-BE49-F238E27FC236}">
                <a16:creationId xmlns:a16="http://schemas.microsoft.com/office/drawing/2014/main" id="{8FCAA492-8936-4709-BDDA-73EFA91B4F25}"/>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Native HTTPS messaging; MySQL for source and state</a:t>
            </a:r>
          </a:p>
        </p:txBody>
      </p:sp>
      <p:sp>
        <p:nvSpPr>
          <p:cNvPr id="4" name="subtitle">
            <a:extLst xmlns:a="http://schemas.openxmlformats.org/drawingml/2006/main">
              <a:ext uri="{FF2B5EF4-FFF2-40B4-BE49-F238E27FC236}">
                <a16:creationId xmlns:a16="http://schemas.microsoft.com/office/drawing/2014/main" id="{A7EAF330-B7E2-48E1-861D-EB1FBAC1F6AE}"/>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Clients initiate the shown connections. Full offsets and JDBC history still depend on the target.</a:t>
            </a:r>
          </a:p>
        </p:txBody>
      </p:sp>
      <p:sp>
        <p:nvSpPr>
          <p:cNvPr id="5" name="brand-rule-72-831">
            <a:extLst xmlns:a="http://schemas.openxmlformats.org/drawingml/2006/main">
              <a:ext uri="{FF2B5EF4-FFF2-40B4-BE49-F238E27FC236}">
                <a16:creationId xmlns:a16="http://schemas.microsoft.com/office/drawing/2014/main" id="{9659E159-4083-48CB-958C-D3A515167CC2}"/>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C7FFC663-0DE5-48DF-8658-72E7E8613782}"/>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B879C889-6829-4BED-8FD9-1CEA550D78C8}"/>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10</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b541ee2c69d48ce"/>
          <a:stretch xmlns:a="http://schemas.openxmlformats.org/drawingml/2006/main"/>
        </p:blipFill>
        <p:spPr>
          <a:xfrm xmlns:a="http://schemas.openxmlformats.org/drawingml/2006/main">
            <a:off x="3993415" y="2305050"/>
            <a:ext cx="7253170" cy="5305425"/>
          </a:xfrm>
          <a:prstGeom xmlns:a="http://schemas.openxmlformats.org/drawingml/2006/main" prst="rect">
            <a:avLst/>
          </a:prstGeom>
        </p:spPr>
      </p:pic>
    </p:spTree>
    <p:extLst>
      <p:ext uri="{BB962C8B-B14F-4D97-AF65-F5344CB8AC3E}">
        <p14:creationId xmlns:p14="http://schemas.microsoft.com/office/powerpoint/2010/main" val="1595115716"/>
      </p:ext>
    </p:extLst>
  </p:cSld>
</p:sld>
</file>

<file path=ppt/slides/slide11.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F39C0D0-8B19-4EA4-B28E-8C0B3AF4C5F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4D03947-AC59-4F03-BBA1-BBFAB909AB4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SOURCE SCOPES</a:t>
            </a:r>
          </a:p>
        </p:txBody>
      </p:sp>
      <p:sp>
        <p:nvSpPr>
          <p:cNvPr id="3" name="title">
            <a:extLst xmlns:a="http://schemas.openxmlformats.org/drawingml/2006/main">
              <a:ext uri="{FF2B5EF4-FFF2-40B4-BE49-F238E27FC236}">
                <a16:creationId xmlns:a16="http://schemas.microsoft.com/office/drawing/2014/main" id="{CF4B8183-6D19-4710-B603-4315A5BB090E}"/>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Choose the source scope explicitly</a:t>
            </a:r>
          </a:p>
        </p:txBody>
      </p:sp>
      <p:sp>
        <p:nvSpPr>
          <p:cNvPr id="4" name="brand-rule-72-831">
            <a:extLst xmlns:a="http://schemas.openxmlformats.org/drawingml/2006/main">
              <a:ext uri="{FF2B5EF4-FFF2-40B4-BE49-F238E27FC236}">
                <a16:creationId xmlns:a16="http://schemas.microsoft.com/office/drawing/2014/main" id="{B8897D17-8AD5-46EB-9216-57B2F096823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971D7CF-2F65-42A5-AD0D-8379103F5FC0}"/>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0BCC7790-E105-483D-B4EC-C9123CC37CA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11</a:t>
            </a:r>
          </a:p>
        </p:txBody>
      </p:sp>
      <p:graphicFrame>
        <p:nvGraphicFramePr>
          <p:cNvPr id="14" name=""/>
          <p:cNvGraphicFramePr/>
          <p:nvPr/>
        </p:nvGraphicFramePr>
        <p:xfrm>
          <a:off xmlns:a="http://schemas.openxmlformats.org/drawingml/2006/main" x="685800" y="2362200"/>
          <a:ext xmlns:a="http://schemas.openxmlformats.org/drawingml/2006/main" cx="13868400" cy="4876800"/>
        </p:xfrm>
        <a:graphic xmlns:a="http://schemas.openxmlformats.org/drawingml/2006/main">
          <a:graphicData uri="http://schemas.openxmlformats.org/drawingml/2006/table">
            <a:tbl>
              <a:tblPr/>
              <a:tblGrid>
                <a:gridCol w="4191000"/>
                <a:gridCol w="9677400"/>
              </a:tblGrid>
              <a:tr h="975360">
                <a:tc>
                  <a:txBody>
                    <a:bodyPr lIns="171450" tIns="152400" rIns="171450" bIns="95250" anchor="ctr">
                      <a:noAutofit/>
                    </a:bodyPr>
                    <a:lstStyle/>
                    <a:p>
                      <a:r>
                        <a:rPr sz="2400" b="1">
                          <a:solidFill>
                            <a:srgbClr val="FFFFFF"/>
                          </a:solidFill>
                          <a:latin typeface="Arial"/>
                          <a:ea typeface="Arial"/>
                          <a:cs typeface="Arial"/>
                        </a:rPr>
                        <a:t>Source selection</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Capture contract</a:t>
                      </a:r>
                    </a:p>
                  </a:txBody>
                  <a:tcPr marL="91440" marR="91440" marT="45720" marB="45720">
                    <a:solidFill>
                      <a:srgbClr val="312D2A"/>
                    </a:solidFill>
                  </a:tcPr>
                </a:tc>
              </a:tr>
              <a:tr h="975360">
                <a:tc>
                  <a:txBody>
                    <a:bodyPr lIns="171450" tIns="152400" rIns="171450" bIns="95250" anchor="ctr">
                      <a:noAutofit/>
                    </a:bodyPr>
                    <a:lstStyle/>
                    <a:p>
                      <a:r>
                        <a:rPr sz="2025">
                          <a:solidFill>
                            <a:srgbClr val="312D2A"/>
                          </a:solidFill>
                          <a:latin typeface="Arial"/>
                          <a:ea typeface="Arial"/>
                          <a:cs typeface="Arial"/>
                        </a:rPr>
                        <a:t>sales.orders</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One named base table with a complete stable primary key.</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sales.*</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Eligible current and newly discovered tables in one database.</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Eligible tables across databases; exclude system and audit schemas.</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Inventory boundary</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At most 1,000 current tables; keyless or unsafe scopes stop for review.</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52809974"/>
      </p:ext>
    </p:extLst>
  </p:cSld>
</p:sld>
</file>

<file path=ppt/slides/slide12.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F39C0D0-8B19-4EA4-B28E-8C0B3AF4C5F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4D03947-AC59-4F03-BBA1-BBFAB909AB4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TARGET LAYOUT</a:t>
            </a:r>
          </a:p>
        </p:txBody>
      </p:sp>
      <p:sp>
        <p:nvSpPr>
          <p:cNvPr id="3" name="title">
            <a:extLst xmlns:a="http://schemas.openxmlformats.org/drawingml/2006/main">
              <a:ext uri="{FF2B5EF4-FFF2-40B4-BE49-F238E27FC236}">
                <a16:creationId xmlns:a16="http://schemas.microsoft.com/office/drawing/2014/main" id="{CF4B8183-6D19-4710-B603-4315A5BB090E}"/>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Choose where each table’s history lands</a:t>
            </a:r>
          </a:p>
        </p:txBody>
      </p:sp>
      <p:sp>
        <p:nvSpPr>
          <p:cNvPr id="4" name="brand-rule-72-831">
            <a:extLst xmlns:a="http://schemas.openxmlformats.org/drawingml/2006/main">
              <a:ext uri="{FF2B5EF4-FFF2-40B4-BE49-F238E27FC236}">
                <a16:creationId xmlns:a16="http://schemas.microsoft.com/office/drawing/2014/main" id="{B8897D17-8AD5-46EB-9216-57B2F096823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971D7CF-2F65-42A5-AD0D-8379103F5FC0}"/>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0BCC7790-E105-483D-B4EC-C9123CC37CA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12</a:t>
            </a:r>
          </a:p>
        </p:txBody>
      </p:sp>
      <p:graphicFrame>
        <p:nvGraphicFramePr>
          <p:cNvPr id="14" name=""/>
          <p:cNvGraphicFramePr/>
          <p:nvPr/>
        </p:nvGraphicFramePr>
        <p:xfrm>
          <a:off xmlns:a="http://schemas.openxmlformats.org/drawingml/2006/main" x="685800" y="2362200"/>
          <a:ext xmlns:a="http://schemas.openxmlformats.org/drawingml/2006/main" cx="13868400" cy="4876800"/>
        </p:xfrm>
        <a:graphic xmlns:a="http://schemas.openxmlformats.org/drawingml/2006/main">
          <a:graphicData uri="http://schemas.openxmlformats.org/drawingml/2006/table">
            <a:tbl>
              <a:tblPr/>
              <a:tblGrid>
                <a:gridCol w="4191000"/>
                <a:gridCol w="9677400"/>
              </a:tblGrid>
              <a:tr h="975360">
                <a:tc>
                  <a:txBody>
                    <a:bodyPr lIns="171450" tIns="152400" rIns="171450" bIns="95250" anchor="ctr">
                      <a:noAutofit/>
                    </a:bodyPr>
                    <a:lstStyle/>
                    <a:p>
                      <a:r>
                        <a:rPr sz="2400" b="1">
                          <a:solidFill>
                            <a:srgbClr val="FFFFFF"/>
                          </a:solidFill>
                          <a:latin typeface="Arial"/>
                          <a:ea typeface="Arial"/>
                          <a:cs typeface="Arial"/>
                        </a:rPr>
                        <a:t>Target grouping</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Physical audit layout</a:t>
                      </a:r>
                    </a:p>
                  </a:txBody>
                  <a:tcPr marL="91440" marR="91440" marT="45720" marB="45720">
                    <a:solidFill>
                      <a:srgbClr val="312D2A"/>
                    </a:solidFill>
                  </a:tcPr>
                </a:tc>
              </a:tr>
              <a:tr h="975360">
                <a:tc>
                  <a:txBody>
                    <a:bodyPr lIns="171450" tIns="152400" rIns="171450" bIns="95250" anchor="ctr">
                      <a:noAutofit/>
                    </a:bodyPr>
                    <a:lstStyle/>
                    <a:p>
                      <a:r>
                        <a:rPr sz="2025">
                          <a:solidFill>
                            <a:srgbClr val="312D2A"/>
                          </a:solidFill>
                          <a:latin typeface="Arial"/>
                          <a:ea typeface="Arial"/>
                          <a:cs typeface="Arial"/>
                        </a:rPr>
                        <a:t>By flow</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One audit table for every included source table.</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By source database</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One generated audit table per actual source database.</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By source table</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One generated audit table per database/table pair.</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Continuity</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All destinations stay in the selected target schema; routes and claims persist.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52809974"/>
      </p:ext>
    </p:extLst>
  </p:cSld>
</p:sld>
</file>

<file path=ppt/slides/slide13.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F39C0D0-8B19-4EA4-B28E-8C0B3AF4C5F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4D03947-AC59-4F03-BBA1-BBFAB909AB4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INITIAL CAPTURE</a:t>
            </a:r>
          </a:p>
        </p:txBody>
      </p:sp>
      <p:sp>
        <p:nvSpPr>
          <p:cNvPr id="3" name="title">
            <a:extLst xmlns:a="http://schemas.openxmlformats.org/drawingml/2006/main">
              <a:ext uri="{FF2B5EF4-FFF2-40B4-BE49-F238E27FC236}">
                <a16:creationId xmlns:a16="http://schemas.microsoft.com/office/drawing/2014/main" id="{CF4B8183-6D19-4710-B603-4315A5BB090E}"/>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Choose a baseline without an unwanted row scan</a:t>
            </a:r>
          </a:p>
        </p:txBody>
      </p:sp>
      <p:sp>
        <p:nvSpPr>
          <p:cNvPr id="4" name="brand-rule-72-831">
            <a:extLst xmlns:a="http://schemas.openxmlformats.org/drawingml/2006/main">
              <a:ext uri="{FF2B5EF4-FFF2-40B4-BE49-F238E27FC236}">
                <a16:creationId xmlns:a16="http://schemas.microsoft.com/office/drawing/2014/main" id="{B8897D17-8AD5-46EB-9216-57B2F096823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971D7CF-2F65-42A5-AD0D-8379103F5FC0}"/>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0BCC7790-E105-483D-B4EC-C9123CC37CA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13</a:t>
            </a:r>
          </a:p>
        </p:txBody>
      </p:sp>
      <p:graphicFrame>
        <p:nvGraphicFramePr>
          <p:cNvPr id="14" name=""/>
          <p:cNvGraphicFramePr/>
          <p:nvPr/>
        </p:nvGraphicFramePr>
        <p:xfrm>
          <a:off xmlns:a="http://schemas.openxmlformats.org/drawingml/2006/main" x="685800" y="2362200"/>
          <a:ext xmlns:a="http://schemas.openxmlformats.org/drawingml/2006/main" cx="13868400" cy="4876800"/>
        </p:xfrm>
        <a:graphic xmlns:a="http://schemas.openxmlformats.org/drawingml/2006/main">
          <a:graphicData uri="http://schemas.openxmlformats.org/drawingml/2006/table">
            <a:tbl>
              <a:tblPr/>
              <a:tblGrid>
                <a:gridCol w="4191000"/>
                <a:gridCol w="9677400"/>
              </a:tblGrid>
              <a:tr h="975360">
                <a:tc>
                  <a:txBody>
                    <a:bodyPr lIns="171450" tIns="152400" rIns="171450" bIns="95250" anchor="ctr">
                      <a:noAutofit/>
                    </a:bodyPr>
                    <a:lstStyle/>
                    <a:p>
                      <a:r>
                        <a:rPr sz="2400" b="1">
                          <a:solidFill>
                            <a:srgbClr val="FFFFFF"/>
                          </a:solidFill>
                          <a:latin typeface="Arial"/>
                          <a:ea typeface="Arial"/>
                          <a:cs typeface="Arial"/>
                        </a:rPr>
                        <a:t>Initial capture</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Source behavior</a:t>
                      </a:r>
                    </a:p>
                  </a:txBody>
                  <a:tcPr marL="91440" marR="91440" marT="45720" marB="45720">
                    <a:solidFill>
                      <a:srgbClr val="312D2A"/>
                    </a:solidFill>
                  </a:tcPr>
                </a:tc>
              </a:tr>
              <a:tr h="975360">
                <a:tc>
                  <a:txBody>
                    <a:bodyPr lIns="171450" tIns="152400" rIns="171450" bIns="95250" anchor="ctr">
                      <a:noAutofit/>
                    </a:bodyPr>
                    <a:lstStyle/>
                    <a:p>
                      <a:r>
                        <a:rPr sz="2025">
                          <a:solidFill>
                            <a:srgbClr val="312D2A"/>
                          </a:solidFill>
                          <a:latin typeface="Arial"/>
                          <a:ea typeface="Arial"/>
                          <a:cs typeface="Arial"/>
                        </a:rPr>
                        <a:t>End · default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Read schema metadata, then capture new changes; no current-row copy.</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Start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Query current source rows for a snapshot, then follow the binlog.</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Specific GTID</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Establish schema, then follow transactions after the processed set.</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Existing wildcard flow</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Restart from full saved offsets; historical repositioning is disabled.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52809974"/>
      </p:ext>
    </p:extLst>
  </p:cSld>
</p:sld>
</file>

<file path=ppt/slides/slide14.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GTID BOUNDARIES</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The GTID set describes what is already processed</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A row event’s source.gtid identifies its transaction; it is not the complete recovery offset.</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14</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UUIDS AND INTERVALS</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One UUID can contain several transaction intervals.</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One set can contain several server UUID groups.</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Example: UUID-A:1-32:40-45, UUID-B:1-18.</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RETENTION AND ORDER</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Require purged ⊆ selected ⊆ executed.</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Every transaction still needed must remain retained.</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Also prove a supported ordered cut and schema coverage.</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b="1">
                <a:solidFill>
                  <a:srgbClr val="AE562C"/>
                </a:solidFill>
                <a:latin typeface="Arial"/>
                <a:ea typeface="Arial"/>
                <a:cs typeface="Arial"/>
              </a:rPr>
              <a:t>Already-processed purged transactions belong in the selected set. A transaction that still needs capture cannot have been purged.</a:t>
            </a:r>
          </a:p>
        </p:txBody>
      </p:sp>
    </p:spTree>
    <p:extLst>
      <p:ext uri="{BB962C8B-B14F-4D97-AF65-F5344CB8AC3E}">
        <p14:creationId xmlns:p14="http://schemas.microsoft.com/office/powerpoint/2010/main" val="1445375444"/>
      </p:ext>
    </p:extLst>
  </p:cSld>
</p:sld>
</file>

<file path=ppt/slides/slide15.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DEBEZIUM RECOVERY</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Bootstrap schema once; preserve full offsets</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Specific GTID initialization avoids scanning the current business rows.</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15</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INITIALIZATION</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Check the chosen set and supported source schema boundary.</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Publish schema evidence from the schema-only phase.</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Require durable publication progress before normal streaming.</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RESTART</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Retain file, position, event, row and GTID progress.</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Retain JDBC history, stream IDs and target checkpoints.</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Keep source lineage and the same fingerprint key.</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b="1">
                <a:solidFill>
                  <a:srgbClr val="AE562C"/>
                </a:solidFill>
                <a:latin typeface="Arial"/>
                <a:ea typeface="Arial"/>
                <a:cs typeface="Arial"/>
              </a:rPr>
              <a:t>A GTID string alone can lose progress within a transaction. Ordinary Start/Resume and image updates keep the complete checkpoint.</a:t>
            </a:r>
          </a:p>
        </p:txBody>
      </p:sp>
    </p:spTree>
    <p:extLst>
      <p:ext uri="{BB962C8B-B14F-4D97-AF65-F5344CB8AC3E}">
        <p14:creationId xmlns:p14="http://schemas.microsoft.com/office/powerpoint/2010/main" val="1445375444"/>
      </p:ext>
    </p:extLst>
  </p:cSld>
</p:sld>
</file>

<file path=ppt/slides/slide16.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STAGING AND AVAILABILITY</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Streaming absorbs a temporary apply delay</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The retained stream lets publishing and target apply progress at different speeds.</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16</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DURABLE BUFFER</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Keep queued changes while the writer is stopped or slow.</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Resume consumption after the durable delivery checkpoint.</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Plan retention for outages and catch-up, not only normal load.</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CURRENT DEPENDENCY</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Capture offsets also live in the target database.</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Private JDBC schema history uses that target too.</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A full target outage can therefore pause extraction.</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b="1">
                <a:solidFill>
                  <a:srgbClr val="AE562C"/>
                </a:solidFill>
                <a:latin typeface="Arial"/>
                <a:ea typeface="Arial"/>
                <a:cs typeface="Arial"/>
              </a:rPr>
              <a:t>Streaming decouples row apply, but capture is not fully target-independent. Preserve source binlogs for the target-state outage window.</a:t>
            </a:r>
          </a:p>
        </p:txBody>
      </p:sp>
    </p:spTree>
    <p:extLst>
      <p:ext uri="{BB962C8B-B14F-4D97-AF65-F5344CB8AC3E}">
        <p14:creationId xmlns:p14="http://schemas.microsoft.com/office/powerpoint/2010/main" val="1445375444"/>
      </p:ext>
    </p:extLst>
  </p:cSld>
</p:sld>
</file>

<file path=ppt/slides/slide17.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F39C0D0-8B19-4EA4-B28E-8C0B3AF4C5F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4D03947-AC59-4F03-BBA1-BBFAB909AB4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MESSAGE SIZE</a:t>
            </a:r>
          </a:p>
        </p:txBody>
      </p:sp>
      <p:sp>
        <p:nvSpPr>
          <p:cNvPr id="3" name="title">
            <a:extLst xmlns:a="http://schemas.openxmlformats.org/drawingml/2006/main">
              <a:ext uri="{FF2B5EF4-FFF2-40B4-BE49-F238E27FC236}">
                <a16:creationId xmlns:a16="http://schemas.microsoft.com/office/drawing/2014/main" id="{CF4B8183-6D19-4710-B603-4315A5BB090E}"/>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Plan both service and logical event limits</a:t>
            </a:r>
          </a:p>
        </p:txBody>
      </p:sp>
      <p:sp>
        <p:nvSpPr>
          <p:cNvPr id="4" name="brand-rule-72-831">
            <a:extLst xmlns:a="http://schemas.openxmlformats.org/drawingml/2006/main">
              <a:ext uri="{FF2B5EF4-FFF2-40B4-BE49-F238E27FC236}">
                <a16:creationId xmlns:a16="http://schemas.microsoft.com/office/drawing/2014/main" id="{B8897D17-8AD5-46EB-9216-57B2F096823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7971D7CF-2F65-42A5-AD0D-8379103F5FC0}"/>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0BCC7790-E105-483D-B4EC-C9123CC37CAC}"/>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17</a:t>
            </a:r>
          </a:p>
        </p:txBody>
      </p:sp>
      <p:graphicFrame>
        <p:nvGraphicFramePr>
          <p:cNvPr id="14" name=""/>
          <p:cNvGraphicFramePr/>
          <p:nvPr/>
        </p:nvGraphicFramePr>
        <p:xfrm>
          <a:off xmlns:a="http://schemas.openxmlformats.org/drawingml/2006/main" x="685800" y="2362200"/>
          <a:ext xmlns:a="http://schemas.openxmlformats.org/drawingml/2006/main" cx="13868400" cy="4876800"/>
        </p:xfrm>
        <a:graphic xmlns:a="http://schemas.openxmlformats.org/drawingml/2006/main">
          <a:graphicData uri="http://schemas.openxmlformats.org/drawingml/2006/table">
            <a:tbl>
              <a:tblPr/>
              <a:tblGrid>
                <a:gridCol w="4191000"/>
                <a:gridCol w="9677400"/>
              </a:tblGrid>
              <a:tr h="975360">
                <a:tc>
                  <a:txBody>
                    <a:bodyPr lIns="171450" tIns="152400" rIns="171450" bIns="95250" anchor="ctr">
                      <a:noAutofit/>
                    </a:bodyPr>
                    <a:lstStyle/>
                    <a:p>
                      <a:r>
                        <a:rPr sz="2400" b="1">
                          <a:solidFill>
                            <a:srgbClr val="FFFFFF"/>
                          </a:solidFill>
                          <a:latin typeface="Arial"/>
                          <a:ea typeface="Arial"/>
                          <a:cs typeface="Arial"/>
                        </a:rPr>
                        <a:t>Boundary</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Current behavior</a:t>
                      </a:r>
                    </a:p>
                  </a:txBody>
                  <a:tcPr marL="91440" marR="91440" marT="45720" marB="45720">
                    <a:solidFill>
                      <a:srgbClr val="312D2A"/>
                    </a:solidFill>
                  </a:tcPr>
                </a:tc>
              </a:tr>
              <a:tr h="975360">
                <a:tc>
                  <a:txBody>
                    <a:bodyPr lIns="171450" tIns="152400" rIns="171450" bIns="95250" anchor="ctr">
                      <a:noAutofit/>
                    </a:bodyPr>
                    <a:lstStyle/>
                    <a:p>
                      <a:r>
                        <a:rPr sz="2025">
                          <a:solidFill>
                            <a:srgbClr val="312D2A"/>
                          </a:solidFill>
                          <a:latin typeface="Arial"/>
                          <a:ea typeface="Arial"/>
                          <a:cs typeface="Arial"/>
                        </a:rPr>
                        <a:t>OCI message / PUT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Service maximum: 1 MiB. Application batching does not raise it.</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Publisher budget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900,000 estimated encoded bytes including key and overhead.</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Logical event</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16 MiB default; configurable from 1 to 64 MiB.</a:t>
                      </a:r>
                    </a:p>
                  </a:txBody>
                  <a:tcPr marL="91440" marR="91440" marT="45720" marB="45720">
                    <a:solidFill>
                      <a:srgbClr val="FFFFFF"/>
                    </a:solidFill>
                  </a:tcPr>
                </a:tc>
              </a:tr>
              <a:tr h="975360">
                <a:tc>
                  <a:txBody>
                    <a:bodyPr lIns="171450" tIns="152400" rIns="171450" bIns="95250" anchor="ctr">
                      <a:noAutofit/>
                    </a:bodyPr>
                    <a:lstStyle/>
                    <a:p>
                      <a:r>
                        <a:rPr sz="2025">
                          <a:solidFill>
                            <a:srgbClr val="312D2A"/>
                          </a:solidFill>
                          <a:latin typeface="Arial"/>
                          <a:ea typeface="Arial"/>
                          <a:cs typeface="Arial"/>
                        </a:rPr>
                        <a:t>Pending custody</a:t>
                      </a:r>
                    </a:p>
                  </a:txBody>
                  <a:tcPr marL="91440" marR="91440" marT="45720" marB="45720">
                    <a:solidFill>
                      <a:srgbClr val="FFFFFF"/>
                    </a:solidFill>
                  </a:tcPr>
                </a:tc>
                <a:tc>
                  <a:txBody>
                    <a:bodyPr lIns="171450" tIns="152400" rIns="171450" bIns="95250" anchor="ctr">
                      <a:noAutofit/>
                    </a:bodyPr>
                    <a:lstStyle/>
                    <a:p>
                      <a:r>
                        <a:rPr sz="2025">
                          <a:solidFill>
                            <a:srgbClr val="312D2A"/>
                          </a:solidFill>
                          <a:latin typeface="Arial"/>
                          <a:ea typeface="Arial"/>
                          <a:cs typeface="Arial"/>
                        </a:rPr>
                        <a:t>128 MiB default, up to 1 GiB; target packet/storage limits still apply.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552809974"/>
      </p:ext>
    </p:extLst>
  </p:cSld>
</p:sld>
</file>

<file path=ppt/slides/slide18.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CONDITIONAL FRAGMENTATION</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Split oversized events; reassemble before apply</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Normal events keep their original key and full envelope in one message.</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18</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PUBLISH</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Measure UTF-8 key/value plus framing overhead.</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Split only above the publisher’s encoded byte budget.</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Acknowledge source progress after all parts are accepted.</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REASSEMBLE</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Persist part custody and verify part/full checksums.</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Write only a complete reconstructed audit event.</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Release completed blobs; retain compact replay receipts.</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b="1">
                <a:solidFill>
                  <a:srgbClr val="AE562C"/>
                </a:solidFill>
                <a:latin typeface="Arial"/>
                <a:ea typeface="Arial"/>
                <a:cs typeface="Arial"/>
              </a:rPr>
              <a:t>Interrupted source attempts can leave incomplete generations. Custody is bounded; reconcile retained evidence before explicit cleanup.</a:t>
            </a:r>
          </a:p>
        </p:txBody>
      </p:sp>
    </p:spTree>
    <p:extLst>
      <p:ext uri="{BB962C8B-B14F-4D97-AF65-F5344CB8AC3E}">
        <p14:creationId xmlns:p14="http://schemas.microsoft.com/office/powerpoint/2010/main" val="1445375444"/>
      </p:ext>
    </p:extLst>
  </p:cSld>
</p:sld>
</file>

<file path=ppt/slides/slide19.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F9FDA4A-410E-4DBC-B1A4-03B822D24103}"/>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530639F-24E1-4448-97CB-2E945F472FB5}"/>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REQUEST CONTROL</a:t>
            </a:r>
          </a:p>
        </p:txBody>
      </p:sp>
      <p:sp>
        <p:nvSpPr>
          <p:cNvPr id="3" name="title">
            <a:extLst xmlns:a="http://schemas.openxmlformats.org/drawingml/2006/main">
              <a:ext uri="{FF2B5EF4-FFF2-40B4-BE49-F238E27FC236}">
                <a16:creationId xmlns:a16="http://schemas.microsoft.com/office/drawing/2014/main" id="{90B482E0-BB4E-4DA5-8D7D-46315FBDBA6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Batch and pace before retrying</a:t>
            </a:r>
          </a:p>
        </p:txBody>
      </p:sp>
      <p:sp>
        <p:nvSpPr>
          <p:cNvPr id="4" name="subtitle">
            <a:extLst xmlns:a="http://schemas.openxmlformats.org/drawingml/2006/main">
              <a:ext uri="{FF2B5EF4-FFF2-40B4-BE49-F238E27FC236}">
                <a16:creationId xmlns:a16="http://schemas.microsoft.com/office/drawing/2014/main" id="{EC8478BC-952B-4A52-A284-5BDDCF285F75}"/>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Live fixture: 100 row events + 1 schema event → 2 PUT calls, 101 messages, zero throttles.</a:t>
            </a:r>
          </a:p>
        </p:txBody>
      </p:sp>
      <p:sp>
        <p:nvSpPr>
          <p:cNvPr id="5" name="brand-rule-72-831">
            <a:extLst xmlns:a="http://schemas.openxmlformats.org/drawingml/2006/main">
              <a:ext uri="{FF2B5EF4-FFF2-40B4-BE49-F238E27FC236}">
                <a16:creationId xmlns:a16="http://schemas.microsoft.com/office/drawing/2014/main" id="{61952F9E-6914-462D-B684-CB01E3455606}"/>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B868C0-402E-4EF2-BAEB-9C3C1281AB17}"/>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28A5E7CB-EA77-4864-957B-94DD304EDCA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19</a:t>
            </a:r>
          </a:p>
        </p:txBody>
      </p:sp>
      <p:sp>
        <p:nvSpPr>
          <p:cNvPr id="8" name="label-PRESERVE EACH EVENT">
            <a:extLst xmlns:a="http://schemas.openxmlformats.org/drawingml/2006/main">
              <a:ext uri="{FF2B5EF4-FFF2-40B4-BE49-F238E27FC236}">
                <a16:creationId xmlns:a16="http://schemas.microsoft.com/office/drawing/2014/main" id="{22EE00E5-651D-4B0C-B6A8-CFA488EE6696}"/>
              </a:ext>
            </a:extLst>
          </p:cNvPr>
          <p:cNvSpPr>
            <a:spLocks xmlns:a="http://schemas.openxmlformats.org/drawingml/2006/main" noGrp="1"/>
          </p:cNvSpPr>
          <p:nvPr/>
        </p:nvSpPr>
        <p:spPr>
          <a:xfrm xmlns:a="http://schemas.openxmlformats.org/drawingml/2006/main">
            <a:off x="685800" y="2619375"/>
            <a:ext cx="657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PUBLISH FEWER CALLS</a:t>
            </a:r>
          </a:p>
        </p:txBody>
      </p:sp>
      <p:sp>
        <p:nvSpPr>
          <p:cNvPr id="9" name="bullet-0">
            <a:extLst xmlns:a="http://schemas.openxmlformats.org/drawingml/2006/main">
              <a:ext uri="{FF2B5EF4-FFF2-40B4-BE49-F238E27FC236}">
                <a16:creationId xmlns:a16="http://schemas.microsoft.com/office/drawing/2014/main" id="{3FA86674-7EC3-44A0-A813-8C3C2F230B41}"/>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0" name="body-0">
            <a:extLst xmlns:a="http://schemas.openxmlformats.org/drawingml/2006/main">
              <a:ext uri="{FF2B5EF4-FFF2-40B4-BE49-F238E27FC236}">
                <a16:creationId xmlns:a16="http://schemas.microsoft.com/office/drawing/2014/main" id="{5BE27510-90B3-4551-8A30-983AF6206D45}"/>
              </a:ext>
            </a:extLst>
          </p:cNvPr>
          <p:cNvSpPr>
            <a:spLocks xmlns:a="http://schemas.openxmlformats.org/drawingml/2006/main" noGrp="1"/>
          </p:cNvSpPr>
          <p:nvPr/>
        </p:nvSpPr>
        <p:spPr>
          <a:xfrm xmlns:a="http://schemas.openxmlformats.org/drawingml/2006/main">
            <a:off x="1009650" y="333375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Small events share a PUT request, still as separate messages.</a:t>
            </a:r>
          </a:p>
        </p:txBody>
      </p:sp>
      <p:sp>
        <p:nvSpPr>
          <p:cNvPr id="11" name="bullet-1">
            <a:extLst xmlns:a="http://schemas.openxmlformats.org/drawingml/2006/main">
              <a:ext uri="{FF2B5EF4-FFF2-40B4-BE49-F238E27FC236}">
                <a16:creationId xmlns:a16="http://schemas.microsoft.com/office/drawing/2014/main" id="{32FB0A2C-9B21-4443-8F12-6D929E316E29}"/>
              </a:ext>
            </a:extLst>
          </p:cNvPr>
          <p:cNvSpPr>
            <a:spLocks xmlns:a="http://schemas.openxmlformats.org/drawingml/2006/main" noGrp="1"/>
          </p:cNvSpPr>
          <p:nvPr/>
        </p:nvSpPr>
        <p:spPr>
          <a:xfrm xmlns:a="http://schemas.openxmlformats.org/drawingml/2006/main">
            <a:off x="68580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2" name="body-1">
            <a:extLst xmlns:a="http://schemas.openxmlformats.org/drawingml/2006/main">
              <a:ext uri="{FF2B5EF4-FFF2-40B4-BE49-F238E27FC236}">
                <a16:creationId xmlns:a16="http://schemas.microsoft.com/office/drawing/2014/main" id="{AD32D41F-6737-4741-A80C-1588CD2242C6}"/>
              </a:ext>
            </a:extLst>
          </p:cNvPr>
          <p:cNvSpPr>
            <a:spLocks xmlns:a="http://schemas.openxmlformats.org/drawingml/2006/main" noGrp="1"/>
          </p:cNvSpPr>
          <p:nvPr/>
        </p:nvSpPr>
        <p:spPr>
          <a:xfrm xmlns:a="http://schemas.openxmlformats.org/drawingml/2006/main">
            <a:off x="1009650" y="4600575"/>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Bound batches by both record count and encoded bytes.</a:t>
            </a:r>
          </a:p>
        </p:txBody>
      </p:sp>
      <p:sp>
        <p:nvSpPr>
          <p:cNvPr id="13" name="bullet-2">
            <a:extLst xmlns:a="http://schemas.openxmlformats.org/drawingml/2006/main">
              <a:ext uri="{FF2B5EF4-FFF2-40B4-BE49-F238E27FC236}">
                <a16:creationId xmlns:a16="http://schemas.microsoft.com/office/drawing/2014/main" id="{72560992-3D78-46E1-A1A5-1B785E09F9C8}"/>
              </a:ext>
            </a:extLst>
          </p:cNvPr>
          <p:cNvSpPr>
            <a:spLocks xmlns:a="http://schemas.openxmlformats.org/drawingml/2006/main" noGrp="1"/>
          </p:cNvSpPr>
          <p:nvPr/>
        </p:nvSpPr>
        <p:spPr>
          <a:xfrm xmlns:a="http://schemas.openxmlformats.org/drawingml/2006/main">
            <a:off x="68580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4" name="body-2">
            <a:extLst xmlns:a="http://schemas.openxmlformats.org/drawingml/2006/main">
              <a:ext uri="{FF2B5EF4-FFF2-40B4-BE49-F238E27FC236}">
                <a16:creationId xmlns:a16="http://schemas.microsoft.com/office/drawing/2014/main" id="{331C0029-BE14-4DB5-AD3A-23C970315256}"/>
              </a:ext>
            </a:extLst>
          </p:cNvPr>
          <p:cNvSpPr>
            <a:spLocks xmlns:a="http://schemas.openxmlformats.org/drawingml/2006/main" noGrp="1"/>
          </p:cNvSpPr>
          <p:nvPr/>
        </p:nvSpPr>
        <p:spPr>
          <a:xfrm xmlns:a="http://schemas.openxmlformats.org/drawingml/2006/main">
            <a:off x="1009650" y="5867400"/>
            <a:ext cx="62484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Smooth byte volume and call rate independently per stream.</a:t>
            </a:r>
          </a:p>
        </p:txBody>
      </p:sp>
      <p:sp>
        <p:nvSpPr>
          <p:cNvPr id="15" name="label-FIND THE ROW AGAIN">
            <a:extLst xmlns:a="http://schemas.openxmlformats.org/drawingml/2006/main">
              <a:ext uri="{FF2B5EF4-FFF2-40B4-BE49-F238E27FC236}">
                <a16:creationId xmlns:a16="http://schemas.microsoft.com/office/drawing/2014/main" id="{E8AF62A5-60E9-4DB6-83C5-324B970B9D69}"/>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READ LESS OFTEN</a:t>
            </a:r>
          </a:p>
        </p:txBody>
      </p:sp>
      <p:sp>
        <p:nvSpPr>
          <p:cNvPr id="16" name="bullet-0">
            <a:extLst xmlns:a="http://schemas.openxmlformats.org/drawingml/2006/main">
              <a:ext uri="{FF2B5EF4-FFF2-40B4-BE49-F238E27FC236}">
                <a16:creationId xmlns:a16="http://schemas.microsoft.com/office/drawing/2014/main" id="{7A77D0EF-A520-48ED-AB30-7C6B58C8385F}"/>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7" name="body-0">
            <a:extLst xmlns:a="http://schemas.openxmlformats.org/drawingml/2006/main">
              <a:ext uri="{FF2B5EF4-FFF2-40B4-BE49-F238E27FC236}">
                <a16:creationId xmlns:a16="http://schemas.microsoft.com/office/drawing/2014/main" id="{62CF8339-1FD3-4229-9566-41C3648905EA}"/>
              </a:ext>
            </a:extLst>
          </p:cNvPr>
          <p:cNvSpPr>
            <a:spLocks xmlns:a="http://schemas.openxmlformats.org/drawingml/2006/main" noGrp="1"/>
          </p:cNvSpPr>
          <p:nvPr/>
        </p:nvSpPr>
        <p:spPr>
          <a:xfrm xmlns:a="http://schemas.openxmlformats.org/drawingml/2006/main">
            <a:off x="8610600" y="333375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Fetch up to 1,000 records per GET by default.</a:t>
            </a:r>
          </a:p>
        </p:txBody>
      </p:sp>
      <p:sp>
        <p:nvSpPr>
          <p:cNvPr id="18" name="bullet-1">
            <a:extLst xmlns:a="http://schemas.openxmlformats.org/drawingml/2006/main">
              <a:ext uri="{FF2B5EF4-FFF2-40B4-BE49-F238E27FC236}">
                <a16:creationId xmlns:a16="http://schemas.microsoft.com/office/drawing/2014/main" id="{CD4EC97A-DCD8-4B1A-9A24-7CECC4E06D36}"/>
              </a:ext>
            </a:extLst>
          </p:cNvPr>
          <p:cNvSpPr>
            <a:spLocks xmlns:a="http://schemas.openxmlformats.org/drawingml/2006/main" noGrp="1"/>
          </p:cNvSpPr>
          <p:nvPr/>
        </p:nvSpPr>
        <p:spPr>
          <a:xfrm xmlns:a="http://schemas.openxmlformats.org/drawingml/2006/main">
            <a:off x="8286750" y="46005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9" name="body-1">
            <a:extLst xmlns:a="http://schemas.openxmlformats.org/drawingml/2006/main">
              <a:ext uri="{FF2B5EF4-FFF2-40B4-BE49-F238E27FC236}">
                <a16:creationId xmlns:a16="http://schemas.microsoft.com/office/drawing/2014/main" id="{525EC98A-0BB4-4677-9C01-1F43CBB7538C}"/>
              </a:ext>
            </a:extLst>
          </p:cNvPr>
          <p:cNvSpPr>
            <a:spLocks xmlns:a="http://schemas.openxmlformats.org/drawingml/2006/main" noGrp="1"/>
          </p:cNvSpPr>
          <p:nvPr/>
        </p:nvSpPr>
        <p:spPr>
          <a:xfrm xmlns:a="http://schemas.openxmlformats.org/drawingml/2006/main">
            <a:off x="8610600" y="4600575"/>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Back off empty polls; pace reads by returned bytes.</a:t>
            </a:r>
          </a:p>
        </p:txBody>
      </p:sp>
      <p:sp>
        <p:nvSpPr>
          <p:cNvPr id="20" name="bullet-2">
            <a:extLst xmlns:a="http://schemas.openxmlformats.org/drawingml/2006/main">
              <a:ext uri="{FF2B5EF4-FFF2-40B4-BE49-F238E27FC236}">
                <a16:creationId xmlns:a16="http://schemas.microsoft.com/office/drawing/2014/main" id="{405A4750-2198-46F0-9065-0556F4F208DB}"/>
              </a:ext>
            </a:extLst>
          </p:cNvPr>
          <p:cNvSpPr>
            <a:spLocks xmlns:a="http://schemas.openxmlformats.org/drawingml/2006/main" noGrp="1"/>
          </p:cNvSpPr>
          <p:nvPr/>
        </p:nvSpPr>
        <p:spPr>
          <a:xfrm xmlns:a="http://schemas.openxmlformats.org/drawingml/2006/main">
            <a:off x="8286750" y="5867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1" name="body-2">
            <a:extLst xmlns:a="http://schemas.openxmlformats.org/drawingml/2006/main">
              <a:ext uri="{FF2B5EF4-FFF2-40B4-BE49-F238E27FC236}">
                <a16:creationId xmlns:a16="http://schemas.microsoft.com/office/drawing/2014/main" id="{2FFEC196-8089-457F-84B9-02D8FCCC246B}"/>
              </a:ext>
            </a:extLst>
          </p:cNvPr>
          <p:cNvSpPr>
            <a:spLocks xmlns:a="http://schemas.openxmlformats.org/drawingml/2006/main" noGrp="1"/>
          </p:cNvSpPr>
          <p:nvPr/>
        </p:nvSpPr>
        <p:spPr>
          <a:xfrm xmlns:a="http://schemas.openxmlformats.org/drawingml/2006/main">
            <a:off x="8610600" y="5867400"/>
            <a:ext cx="594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Share Control Center status checks across web workers.</a:t>
            </a:r>
          </a:p>
        </p:txBody>
      </p:sp>
      <p:sp>
        <p:nvSpPr>
          <p:cNvPr id="22" name="coverage-limit">
            <a:extLst xmlns:a="http://schemas.openxmlformats.org/drawingml/2006/main">
              <a:ext uri="{FF2B5EF4-FFF2-40B4-BE49-F238E27FC236}">
                <a16:creationId xmlns:a16="http://schemas.microsoft.com/office/drawing/2014/main" id="{A818E69C-0D5F-4FE7-B443-F14A1CB59DFD}"/>
              </a:ext>
            </a:extLst>
          </p:cNvPr>
          <p:cNvSpPr>
            <a:spLocks xmlns:a="http://schemas.openxmlformats.org/drawingml/2006/main" noGrp="1"/>
          </p:cNvSpPr>
          <p:nvPr/>
        </p:nvSpPr>
        <p:spPr>
          <a:xfrm xmlns:a="http://schemas.openxmlformats.org/drawingml/2006/main">
            <a:off x="685800" y="7124700"/>
            <a:ext cx="13868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b="1">
                <a:solidFill>
                  <a:srgbClr val="AE562C"/>
                </a:solidFill>
                <a:latin typeface="Arial"/>
                <a:ea typeface="Arial"/>
                <a:cs typeface="Arial"/>
              </a:rPr>
              <a:t>Bounded retries remain fallback handling. A functional burst result is not a general throughput or latency benchmark.</a:t>
            </a:r>
          </a:p>
        </p:txBody>
      </p:sp>
    </p:spTree>
    <p:extLst>
      <p:ext uri="{BB962C8B-B14F-4D97-AF65-F5344CB8AC3E}">
        <p14:creationId xmlns:p14="http://schemas.microsoft.com/office/powerpoint/2010/main" val="1445375444"/>
      </p:ext>
    </p:extLst>
  </p:cSld>
</p:sld>
</file>

<file path=ppt/slides/slide20.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B2ED2B2D-A6E5-46C3-93C8-BD9808A7747A}"/>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BDC4CE54-1AA2-4596-9E21-6A5FEE0A1342}"/>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APPLICATION OVERVIEW</a:t>
            </a:r>
          </a:p>
        </p:txBody>
      </p:sp>
      <p:sp>
        <p:nvSpPr>
          <p:cNvPr id="3" name="title">
            <a:extLst xmlns:a="http://schemas.openxmlformats.org/drawingml/2006/main">
              <a:ext uri="{FF2B5EF4-FFF2-40B4-BE49-F238E27FC236}">
                <a16:creationId xmlns:a16="http://schemas.microsoft.com/office/drawing/2014/main" id="{B23BCB11-63A9-41D6-B184-2A167894EFA1}"/>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The dashboard gives operators a starting point</a:t>
            </a:r>
          </a:p>
        </p:txBody>
      </p:sp>
      <p:sp>
        <p:nvSpPr>
          <p:cNvPr id="4" name="subtitle">
            <a:extLst xmlns:a="http://schemas.openxmlformats.org/drawingml/2006/main">
              <a:ext uri="{FF2B5EF4-FFF2-40B4-BE49-F238E27FC236}">
                <a16:creationId xmlns:a16="http://schemas.microsoft.com/office/drawing/2014/main" id="{25B72738-5DBE-422A-938F-AFC3CAF6E2A6}"/>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6F6861"/>
                </a:solidFill>
                <a:latin typeface="Arial"/>
                <a:ea typeface="Arial"/>
                <a:cs typeface="Arial"/>
              </a:defRPr>
            </a:pPr>
            <a:r>
              <a:rPr sz="1875" b="0">
                <a:solidFill>
                  <a:srgbClr val="6F6861"/>
                </a:solidFill>
                <a:latin typeface="Arial"/>
                <a:ea typeface="Arial"/>
                <a:cs typeface="Arial"/>
              </a:rPr>
              <a:t>Application preview with illustrative records; no live CDC result is implied.</a:t>
            </a:r>
          </a:p>
        </p:txBody>
      </p:sp>
      <p:sp>
        <p:nvSpPr>
          <p:cNvPr id="5" name="brand-rule-72-831">
            <a:extLst xmlns:a="http://schemas.openxmlformats.org/drawingml/2006/main">
              <a:ext uri="{FF2B5EF4-FFF2-40B4-BE49-F238E27FC236}">
                <a16:creationId xmlns:a16="http://schemas.microsoft.com/office/drawing/2014/main" id="{67063997-4D36-4621-9700-12A214F4D5AE}"/>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79EFD92-48FA-4BA5-B906-BC91B6D7F8BE}"/>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7C8596DD-6E55-4FDE-8D6E-7169756AF7AE}"/>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20</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4f8638bcf63a4ceb"/>
          <a:stretch xmlns:a="http://schemas.openxmlformats.org/drawingml/2006/main"/>
        </p:blipFill>
        <p:spPr>
          <a:xfrm xmlns:a="http://schemas.openxmlformats.org/drawingml/2006/main">
            <a:off x="2329251" y="2769625"/>
            <a:ext cx="5666597" cy="4328650"/>
          </a:xfrm>
          <a:prstGeom xmlns:a="http://schemas.openxmlformats.org/drawingml/2006/main" prst="rect">
            <a:avLst/>
          </a:prstGeom>
        </p:spPr>
      </p:pic>
      <p:sp>
        <p:nvSpPr>
          <p:cNvPr id="9" name="label-FIVE WORK AREAS">
            <a:extLst xmlns:a="http://schemas.openxmlformats.org/drawingml/2006/main">
              <a:ext uri="{FF2B5EF4-FFF2-40B4-BE49-F238E27FC236}">
                <a16:creationId xmlns:a16="http://schemas.microsoft.com/office/drawing/2014/main" id="{33D2DC30-E8A1-48AA-B6AD-62480B93F763}"/>
              </a:ext>
            </a:extLst>
          </p:cNvPr>
          <p:cNvSpPr>
            <a:spLocks xmlns:a="http://schemas.openxmlformats.org/drawingml/2006/main" noGrp="1"/>
          </p:cNvSpPr>
          <p:nvPr/>
        </p:nvSpPr>
        <p:spPr>
          <a:xfrm xmlns:a="http://schemas.openxmlformats.org/drawingml/2006/main">
            <a:off x="10401300" y="2543175"/>
            <a:ext cx="4095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FIVE WORK AREAS</a:t>
            </a:r>
          </a:p>
        </p:txBody>
      </p:sp>
      <p:sp>
        <p:nvSpPr>
          <p:cNvPr id="10" name="bullet-0">
            <a:extLst xmlns:a="http://schemas.openxmlformats.org/drawingml/2006/main">
              <a:ext uri="{FF2B5EF4-FFF2-40B4-BE49-F238E27FC236}">
                <a16:creationId xmlns:a16="http://schemas.microsoft.com/office/drawing/2014/main" id="{1358D2B8-0EAC-463B-A1E8-80FAD31D1DD5}"/>
              </a:ext>
            </a:extLst>
          </p:cNvPr>
          <p:cNvSpPr>
            <a:spLocks xmlns:a="http://schemas.openxmlformats.org/drawingml/2006/main" noGrp="1"/>
          </p:cNvSpPr>
          <p:nvPr/>
        </p:nvSpPr>
        <p:spPr>
          <a:xfrm xmlns:a="http://schemas.openxmlformats.org/drawingml/2006/main">
            <a:off x="10401300" y="32385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C74634"/>
                </a:solidFill>
                <a:latin typeface="Arial"/>
                <a:ea typeface="Arial"/>
                <a:cs typeface="Arial"/>
              </a:defRPr>
            </a:pPr>
            <a:r>
              <a:rPr sz="2250"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8838FE2A-AB53-48C9-BEB9-1028B0F1B247}"/>
              </a:ext>
            </a:extLst>
          </p:cNvPr>
          <p:cNvSpPr>
            <a:spLocks xmlns:a="http://schemas.openxmlformats.org/drawingml/2006/main" noGrp="1"/>
          </p:cNvSpPr>
          <p:nvPr/>
        </p:nvSpPr>
        <p:spPr>
          <a:xfrm xmlns:a="http://schemas.openxmlformats.org/drawingml/2006/main">
            <a:off x="10725150" y="32385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Arial"/>
                <a:ea typeface="Arial"/>
                <a:cs typeface="Arial"/>
              </a:defRPr>
            </a:pPr>
            <a:r>
              <a:rPr sz="2250" b="0">
                <a:solidFill>
                  <a:srgbClr val="312D2A"/>
                </a:solidFill>
                <a:latin typeface="Arial"/>
                <a:ea typeface="Arial"/>
                <a:cs typeface="Arial"/>
              </a:rPr>
              <a:t>Dashboard</a:t>
            </a:r>
          </a:p>
        </p:txBody>
      </p:sp>
      <p:sp>
        <p:nvSpPr>
          <p:cNvPr id="12" name="bullet-1">
            <a:extLst xmlns:a="http://schemas.openxmlformats.org/drawingml/2006/main">
              <a:ext uri="{FF2B5EF4-FFF2-40B4-BE49-F238E27FC236}">
                <a16:creationId xmlns:a16="http://schemas.microsoft.com/office/drawing/2014/main" id="{CE2133DC-A532-4AF0-B581-BF929D4CA2C2}"/>
              </a:ext>
            </a:extLst>
          </p:cNvPr>
          <p:cNvSpPr>
            <a:spLocks xmlns:a="http://schemas.openxmlformats.org/drawingml/2006/main" noGrp="1"/>
          </p:cNvSpPr>
          <p:nvPr/>
        </p:nvSpPr>
        <p:spPr>
          <a:xfrm xmlns:a="http://schemas.openxmlformats.org/drawingml/2006/main">
            <a:off x="10401300" y="404812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C74634"/>
                </a:solidFill>
                <a:latin typeface="Arial"/>
                <a:ea typeface="Arial"/>
                <a:cs typeface="Arial"/>
              </a:defRPr>
            </a:pPr>
            <a:r>
              <a:rPr sz="2250"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D0FB462C-734D-49E5-AAA2-A88EF2E6A94D}"/>
              </a:ext>
            </a:extLst>
          </p:cNvPr>
          <p:cNvSpPr>
            <a:spLocks xmlns:a="http://schemas.openxmlformats.org/drawingml/2006/main" noGrp="1"/>
          </p:cNvSpPr>
          <p:nvPr/>
        </p:nvSpPr>
        <p:spPr>
          <a:xfrm xmlns:a="http://schemas.openxmlformats.org/drawingml/2006/main">
            <a:off x="10725150" y="4048125"/>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Arial"/>
                <a:ea typeface="Arial"/>
                <a:cs typeface="Arial"/>
              </a:defRPr>
            </a:pPr>
            <a:r>
              <a:rPr sz="2250" b="0">
                <a:solidFill>
                  <a:srgbClr val="312D2A"/>
                </a:solidFill>
                <a:latin typeface="Arial"/>
                <a:ea typeface="Arial"/>
                <a:cs typeface="Arial"/>
              </a:rPr>
              <a:t>Configuration &amp; setup</a:t>
            </a:r>
          </a:p>
        </p:txBody>
      </p:sp>
      <p:sp>
        <p:nvSpPr>
          <p:cNvPr id="14" name="bullet-2">
            <a:extLst xmlns:a="http://schemas.openxmlformats.org/drawingml/2006/main">
              <a:ext uri="{FF2B5EF4-FFF2-40B4-BE49-F238E27FC236}">
                <a16:creationId xmlns:a16="http://schemas.microsoft.com/office/drawing/2014/main" id="{B69BEB6C-9DA0-458C-BC7B-EB53298BB251}"/>
              </a:ext>
            </a:extLst>
          </p:cNvPr>
          <p:cNvSpPr>
            <a:spLocks xmlns:a="http://schemas.openxmlformats.org/drawingml/2006/main" noGrp="1"/>
          </p:cNvSpPr>
          <p:nvPr/>
        </p:nvSpPr>
        <p:spPr>
          <a:xfrm xmlns:a="http://schemas.openxmlformats.org/drawingml/2006/main">
            <a:off x="10401300" y="4857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C74634"/>
                </a:solidFill>
                <a:latin typeface="Arial"/>
                <a:ea typeface="Arial"/>
                <a:cs typeface="Arial"/>
              </a:defRPr>
            </a:pPr>
            <a:r>
              <a:rPr sz="2250"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C768E2D8-CF60-443A-820A-3F858564E903}"/>
              </a:ext>
            </a:extLst>
          </p:cNvPr>
          <p:cNvSpPr>
            <a:spLocks xmlns:a="http://schemas.openxmlformats.org/drawingml/2006/main" noGrp="1"/>
          </p:cNvSpPr>
          <p:nvPr/>
        </p:nvSpPr>
        <p:spPr>
          <a:xfrm xmlns:a="http://schemas.openxmlformats.org/drawingml/2006/main">
            <a:off x="10725150" y="485775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Arial"/>
                <a:ea typeface="Arial"/>
                <a:cs typeface="Arial"/>
              </a:defRPr>
            </a:pPr>
            <a:r>
              <a:rPr sz="2250" b="0">
                <a:solidFill>
                  <a:srgbClr val="312D2A"/>
                </a:solidFill>
                <a:latin typeface="Arial"/>
                <a:ea typeface="Arial"/>
                <a:cs typeface="Arial"/>
              </a:rPr>
              <a:t>Control Center</a:t>
            </a:r>
          </a:p>
        </p:txBody>
      </p:sp>
      <p:sp>
        <p:nvSpPr>
          <p:cNvPr id="16" name="bullet-3">
            <a:extLst xmlns:a="http://schemas.openxmlformats.org/drawingml/2006/main">
              <a:ext uri="{FF2B5EF4-FFF2-40B4-BE49-F238E27FC236}">
                <a16:creationId xmlns:a16="http://schemas.microsoft.com/office/drawing/2014/main" id="{DD546291-1762-46A5-ACE7-8174FC594F56}"/>
              </a:ext>
            </a:extLst>
          </p:cNvPr>
          <p:cNvSpPr>
            <a:spLocks xmlns:a="http://schemas.openxmlformats.org/drawingml/2006/main" noGrp="1"/>
          </p:cNvSpPr>
          <p:nvPr/>
        </p:nvSpPr>
        <p:spPr>
          <a:xfrm xmlns:a="http://schemas.openxmlformats.org/drawingml/2006/main">
            <a:off x="10401300" y="56673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C74634"/>
                </a:solidFill>
                <a:latin typeface="Arial"/>
                <a:ea typeface="Arial"/>
                <a:cs typeface="Arial"/>
              </a:defRPr>
            </a:pPr>
            <a:r>
              <a:rPr sz="2250" b="0">
                <a:solidFill>
                  <a:srgbClr val="C74634"/>
                </a:solidFill>
                <a:latin typeface="Arial"/>
                <a:ea typeface="Arial"/>
                <a:cs typeface="Arial"/>
              </a:rPr>
              <a:t>•</a:t>
            </a:r>
          </a:p>
        </p:txBody>
      </p:sp>
      <p:sp>
        <p:nvSpPr>
          <p:cNvPr id="17" name="body-3">
            <a:extLst xmlns:a="http://schemas.openxmlformats.org/drawingml/2006/main">
              <a:ext uri="{FF2B5EF4-FFF2-40B4-BE49-F238E27FC236}">
                <a16:creationId xmlns:a16="http://schemas.microsoft.com/office/drawing/2014/main" id="{D0DE2D0A-A577-4468-9C4D-F965A26FB6C0}"/>
              </a:ext>
            </a:extLst>
          </p:cNvPr>
          <p:cNvSpPr>
            <a:spLocks xmlns:a="http://schemas.openxmlformats.org/drawingml/2006/main" noGrp="1"/>
          </p:cNvSpPr>
          <p:nvPr/>
        </p:nvSpPr>
        <p:spPr>
          <a:xfrm xmlns:a="http://schemas.openxmlformats.org/drawingml/2006/main">
            <a:off x="10725150" y="5667375"/>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Arial"/>
                <a:ea typeface="Arial"/>
                <a:cs typeface="Arial"/>
              </a:defRPr>
            </a:pPr>
            <a:r>
              <a:rPr sz="2250" b="0">
                <a:solidFill>
                  <a:srgbClr val="312D2A"/>
                </a:solidFill>
                <a:latin typeface="Arial"/>
                <a:ea typeface="Arial"/>
                <a:cs typeface="Arial"/>
              </a:rPr>
              <a:t>Message Explorer</a:t>
            </a:r>
          </a:p>
        </p:txBody>
      </p:sp>
      <p:sp>
        <p:nvSpPr>
          <p:cNvPr id="18" name="bullet-4">
            <a:extLst xmlns:a="http://schemas.openxmlformats.org/drawingml/2006/main">
              <a:ext uri="{FF2B5EF4-FFF2-40B4-BE49-F238E27FC236}">
                <a16:creationId xmlns:a16="http://schemas.microsoft.com/office/drawing/2014/main" id="{EB8641DE-37A2-44D1-A825-39B6A6F31ADE}"/>
              </a:ext>
            </a:extLst>
          </p:cNvPr>
          <p:cNvSpPr>
            <a:spLocks xmlns:a="http://schemas.openxmlformats.org/drawingml/2006/main" noGrp="1"/>
          </p:cNvSpPr>
          <p:nvPr/>
        </p:nvSpPr>
        <p:spPr>
          <a:xfrm xmlns:a="http://schemas.openxmlformats.org/drawingml/2006/main">
            <a:off x="10401300" y="6477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C74634"/>
                </a:solidFill>
                <a:latin typeface="Arial"/>
                <a:ea typeface="Arial"/>
                <a:cs typeface="Arial"/>
              </a:defRPr>
            </a:pPr>
            <a:r>
              <a:rPr sz="2250" b="0">
                <a:solidFill>
                  <a:srgbClr val="C74634"/>
                </a:solidFill>
                <a:latin typeface="Arial"/>
                <a:ea typeface="Arial"/>
                <a:cs typeface="Arial"/>
              </a:rPr>
              <a:t>•</a:t>
            </a:r>
          </a:p>
        </p:txBody>
      </p:sp>
      <p:sp>
        <p:nvSpPr>
          <p:cNvPr id="19" name="body-4">
            <a:extLst xmlns:a="http://schemas.openxmlformats.org/drawingml/2006/main">
              <a:ext uri="{FF2B5EF4-FFF2-40B4-BE49-F238E27FC236}">
                <a16:creationId xmlns:a16="http://schemas.microsoft.com/office/drawing/2014/main" id="{74D61B94-E584-4620-AF4D-1AC212F4BCCE}"/>
              </a:ext>
            </a:extLst>
          </p:cNvPr>
          <p:cNvSpPr>
            <a:spLocks xmlns:a="http://schemas.openxmlformats.org/drawingml/2006/main" noGrp="1"/>
          </p:cNvSpPr>
          <p:nvPr/>
        </p:nvSpPr>
        <p:spPr>
          <a:xfrm xmlns:a="http://schemas.openxmlformats.org/drawingml/2006/main">
            <a:off x="10725150" y="6477000"/>
            <a:ext cx="3771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250" b="0">
                <a:solidFill>
                  <a:srgbClr val="312D2A"/>
                </a:solidFill>
                <a:latin typeface="Arial"/>
                <a:ea typeface="Arial"/>
                <a:cs typeface="Arial"/>
              </a:defRPr>
            </a:pPr>
            <a:r>
              <a:rPr sz="2250" b="0">
                <a:solidFill>
                  <a:srgbClr val="312D2A"/>
                </a:solidFill>
                <a:latin typeface="Arial"/>
                <a:ea typeface="Arial"/>
                <a:cs typeface="Arial"/>
              </a:rPr>
              <a:t>Audit Center</a:t>
            </a:r>
          </a:p>
        </p:txBody>
      </p:sp>
    </p:spTree>
    <p:extLst>
      <p:ext uri="{BB962C8B-B14F-4D97-AF65-F5344CB8AC3E}">
        <p14:creationId xmlns:p14="http://schemas.microsoft.com/office/powerpoint/2010/main" val="1998797213"/>
      </p:ext>
    </p:extLst>
  </p:cSld>
</p:sld>
</file>

<file path=ppt/slides/slide21.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D8D8E98C-C27B-47A9-84DD-62B7CC98478E}"/>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369453C7-8AD7-4137-92DD-492CC0982C08}"/>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CONFIGURATION AND SETUP</a:t>
            </a:r>
          </a:p>
        </p:txBody>
      </p:sp>
      <p:sp>
        <p:nvSpPr>
          <p:cNvPr id="3" name="title">
            <a:extLst xmlns:a="http://schemas.openxmlformats.org/drawingml/2006/main">
              <a:ext uri="{FF2B5EF4-FFF2-40B4-BE49-F238E27FC236}">
                <a16:creationId xmlns:a16="http://schemas.microsoft.com/office/drawing/2014/main" id="{EBA08A82-10D1-493C-A967-9BDDFBDC32E8}"/>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Register the path before deploying capture</a:t>
            </a:r>
          </a:p>
        </p:txBody>
      </p:sp>
      <p:sp>
        <p:nvSpPr>
          <p:cNvPr id="4" name="subtitle">
            <a:extLst xmlns:a="http://schemas.openxmlformats.org/drawingml/2006/main">
              <a:ext uri="{FF2B5EF4-FFF2-40B4-BE49-F238E27FC236}">
                <a16:creationId xmlns:a16="http://schemas.microsoft.com/office/drawing/2014/main" id="{DB19CD43-F824-4C7D-ABB0-3526C2B0A9C7}"/>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Vault-backed connections, source scopes, native streams and target grouping define each flow.</a:t>
            </a:r>
          </a:p>
        </p:txBody>
      </p:sp>
      <p:sp>
        <p:nvSpPr>
          <p:cNvPr id="5" name="brand-rule-72-831">
            <a:extLst xmlns:a="http://schemas.openxmlformats.org/drawingml/2006/main">
              <a:ext uri="{FF2B5EF4-FFF2-40B4-BE49-F238E27FC236}">
                <a16:creationId xmlns:a16="http://schemas.microsoft.com/office/drawing/2014/main" id="{76083F60-0AE4-4D2A-B69E-7B5DA929A9FD}"/>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0573B9E0-445E-47DB-91B7-687A1FECCC91}"/>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C682C892-C789-4FCD-BF6F-BECD1D068720}"/>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21</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ad5bfea50f284fb3"/>
          <a:stretch xmlns:a="http://schemas.openxmlformats.org/drawingml/2006/main"/>
        </p:blipFill>
        <p:spPr>
          <a:xfrm xmlns:a="http://schemas.openxmlformats.org/drawingml/2006/main">
            <a:off x="2351282" y="2378466"/>
            <a:ext cx="6765536" cy="5168118"/>
          </a:xfrm>
          <a:prstGeom xmlns:a="http://schemas.openxmlformats.org/drawingml/2006/main" prst="rect">
            <a:avLst/>
          </a:prstGeom>
        </p:spPr>
      </p:pic>
      <p:sp>
        <p:nvSpPr>
          <p:cNvPr id="9" name="label-SETUP SEQUENCE">
            <a:extLst xmlns:a="http://schemas.openxmlformats.org/drawingml/2006/main">
              <a:ext uri="{FF2B5EF4-FFF2-40B4-BE49-F238E27FC236}">
                <a16:creationId xmlns:a16="http://schemas.microsoft.com/office/drawing/2014/main" id="{393E8EA6-A6F1-4979-971C-E18EF02BEB9E}"/>
              </a:ext>
            </a:extLst>
          </p:cNvPr>
          <p:cNvSpPr>
            <a:spLocks xmlns:a="http://schemas.openxmlformats.org/drawingml/2006/main" noGrp="1"/>
          </p:cNvSpPr>
          <p:nvPr/>
        </p:nvSpPr>
        <p:spPr>
          <a:xfrm xmlns:a="http://schemas.openxmlformats.org/drawingml/2006/main">
            <a:off x="11334750" y="2571750"/>
            <a:ext cx="3219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SETUP SEQUENCE</a:t>
            </a:r>
          </a:p>
        </p:txBody>
      </p:sp>
      <p:sp>
        <p:nvSpPr>
          <p:cNvPr id="10" name="bullet-0">
            <a:extLst xmlns:a="http://schemas.openxmlformats.org/drawingml/2006/main">
              <a:ext uri="{FF2B5EF4-FFF2-40B4-BE49-F238E27FC236}">
                <a16:creationId xmlns:a16="http://schemas.microsoft.com/office/drawing/2014/main" id="{5A6F44CA-5089-408D-BE55-47EE41BD404A}"/>
              </a:ext>
            </a:extLst>
          </p:cNvPr>
          <p:cNvSpPr>
            <a:spLocks xmlns:a="http://schemas.openxmlformats.org/drawingml/2006/main" noGrp="1"/>
          </p:cNvSpPr>
          <p:nvPr/>
        </p:nvSpPr>
        <p:spPr>
          <a:xfrm xmlns:a="http://schemas.openxmlformats.org/drawingml/2006/main">
            <a:off x="11334750" y="32766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4F6D2155-15FC-495A-86A0-5889615F6F50}"/>
              </a:ext>
            </a:extLst>
          </p:cNvPr>
          <p:cNvSpPr>
            <a:spLocks xmlns:a="http://schemas.openxmlformats.org/drawingml/2006/main" noGrp="1"/>
          </p:cNvSpPr>
          <p:nvPr/>
        </p:nvSpPr>
        <p:spPr>
          <a:xfrm xmlns:a="http://schemas.openxmlformats.org/drawingml/2006/main">
            <a:off x="11658600" y="3276600"/>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312D2A"/>
                </a:solidFill>
                <a:latin typeface="Arial"/>
                <a:ea typeface="Arial"/>
                <a:cs typeface="Arial"/>
              </a:defRPr>
            </a:pPr>
            <a:r>
              <a:rPr sz="2175" b="0">
                <a:solidFill>
                  <a:srgbClr val="312D2A"/>
                </a:solidFill>
                <a:latin typeface="Arial"/>
                <a:ea typeface="Arial"/>
                <a:cs typeface="Arial"/>
              </a:rPr>
              <a:t>Register source and target.</a:t>
            </a:r>
          </a:p>
        </p:txBody>
      </p:sp>
      <p:sp>
        <p:nvSpPr>
          <p:cNvPr id="12" name="bullet-1">
            <a:extLst xmlns:a="http://schemas.openxmlformats.org/drawingml/2006/main">
              <a:ext uri="{FF2B5EF4-FFF2-40B4-BE49-F238E27FC236}">
                <a16:creationId xmlns:a16="http://schemas.microsoft.com/office/drawing/2014/main" id="{C0B7E273-71B3-4562-9217-BFF10A186892}"/>
              </a:ext>
            </a:extLst>
          </p:cNvPr>
          <p:cNvSpPr>
            <a:spLocks xmlns:a="http://schemas.openxmlformats.org/drawingml/2006/main" noGrp="1"/>
          </p:cNvSpPr>
          <p:nvPr/>
        </p:nvSpPr>
        <p:spPr>
          <a:xfrm xmlns:a="http://schemas.openxmlformats.org/drawingml/2006/main">
            <a:off x="11334750" y="43434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6EE140AD-BD1F-4D0C-B380-3D7E81512B74}"/>
              </a:ext>
            </a:extLst>
          </p:cNvPr>
          <p:cNvSpPr>
            <a:spLocks xmlns:a="http://schemas.openxmlformats.org/drawingml/2006/main" noGrp="1"/>
          </p:cNvSpPr>
          <p:nvPr/>
        </p:nvSpPr>
        <p:spPr>
          <a:xfrm xmlns:a="http://schemas.openxmlformats.org/drawingml/2006/main">
            <a:off x="11658600" y="4343400"/>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a:solidFill>
                  <a:srgbClr val="312D2A"/>
                </a:solidFill>
                <a:latin typeface="Arial"/>
                <a:ea typeface="Arial"/>
                <a:cs typeface="Arial"/>
              </a:rPr>
              <a:t>Choose scope and target layout.</a:t>
            </a:r>
          </a:p>
        </p:txBody>
      </p:sp>
      <p:sp>
        <p:nvSpPr>
          <p:cNvPr id="14" name="bullet-2">
            <a:extLst xmlns:a="http://schemas.openxmlformats.org/drawingml/2006/main">
              <a:ext uri="{FF2B5EF4-FFF2-40B4-BE49-F238E27FC236}">
                <a16:creationId xmlns:a16="http://schemas.microsoft.com/office/drawing/2014/main" id="{A7AD4ABA-252F-4F27-B762-540FBCBF15B8}"/>
              </a:ext>
            </a:extLst>
          </p:cNvPr>
          <p:cNvSpPr>
            <a:spLocks xmlns:a="http://schemas.openxmlformats.org/drawingml/2006/main" noGrp="1"/>
          </p:cNvSpPr>
          <p:nvPr/>
        </p:nvSpPr>
        <p:spPr>
          <a:xfrm xmlns:a="http://schemas.openxmlformats.org/drawingml/2006/main">
            <a:off x="11334750" y="54102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F12D3130-FA05-44CC-A405-2C851A7C75BC}"/>
              </a:ext>
            </a:extLst>
          </p:cNvPr>
          <p:cNvSpPr>
            <a:spLocks xmlns:a="http://schemas.openxmlformats.org/drawingml/2006/main" noGrp="1"/>
          </p:cNvSpPr>
          <p:nvPr/>
        </p:nvSpPr>
        <p:spPr>
          <a:xfrm xmlns:a="http://schemas.openxmlformats.org/drawingml/2006/main">
            <a:off x="11658600" y="5410200"/>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312D2A"/>
                </a:solidFill>
                <a:latin typeface="Arial"/>
                <a:ea typeface="Arial"/>
                <a:cs typeface="Arial"/>
              </a:defRPr>
            </a:pPr>
            <a:r>
              <a:rPr sz="2175" b="0">
                <a:solidFill>
                  <a:srgbClr val="312D2A"/>
                </a:solidFill>
                <a:latin typeface="Arial"/>
                <a:ea typeface="Arial"/>
                <a:cs typeface="Arial"/>
              </a:rPr>
              <a:t>Run live source checks.</a:t>
            </a:r>
          </a:p>
        </p:txBody>
      </p:sp>
      <p:sp>
        <p:nvSpPr>
          <p:cNvPr id="16" name="bullet-3">
            <a:extLst xmlns:a="http://schemas.openxmlformats.org/drawingml/2006/main">
              <a:ext uri="{FF2B5EF4-FFF2-40B4-BE49-F238E27FC236}">
                <a16:creationId xmlns:a16="http://schemas.microsoft.com/office/drawing/2014/main" id="{0C8A3006-C1A7-43A8-A0FE-C3CC13290590}"/>
              </a:ext>
            </a:extLst>
          </p:cNvPr>
          <p:cNvSpPr>
            <a:spLocks xmlns:a="http://schemas.openxmlformats.org/drawingml/2006/main" noGrp="1"/>
          </p:cNvSpPr>
          <p:nvPr/>
        </p:nvSpPr>
        <p:spPr>
          <a:xfrm xmlns:a="http://schemas.openxmlformats.org/drawingml/2006/main">
            <a:off x="11334750" y="6477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7" name="body-3">
            <a:extLst xmlns:a="http://schemas.openxmlformats.org/drawingml/2006/main">
              <a:ext uri="{FF2B5EF4-FFF2-40B4-BE49-F238E27FC236}">
                <a16:creationId xmlns:a16="http://schemas.microsoft.com/office/drawing/2014/main" id="{78F02D99-8869-44CD-960C-AA51BE274999}"/>
              </a:ext>
            </a:extLst>
          </p:cNvPr>
          <p:cNvSpPr>
            <a:spLocks xmlns:a="http://schemas.openxmlformats.org/drawingml/2006/main" noGrp="1"/>
          </p:cNvSpPr>
          <p:nvPr/>
        </p:nvSpPr>
        <p:spPr>
          <a:xfrm xmlns:a="http://schemas.openxmlformats.org/drawingml/2006/main">
            <a:off x="11658600" y="6477000"/>
            <a:ext cx="28956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312D2A"/>
                </a:solidFill>
                <a:latin typeface="Arial"/>
                <a:ea typeface="Arial"/>
                <a:cs typeface="Arial"/>
              </a:defRPr>
            </a:pPr>
            <a:r>
              <a:rPr sz="2175" b="0">
                <a:solidFill>
                  <a:srgbClr val="312D2A"/>
                </a:solidFill>
                <a:latin typeface="Arial"/>
                <a:ea typeface="Arial"/>
                <a:cs typeface="Arial"/>
              </a:rPr>
              <a:t>Deploy only when ready.</a:t>
            </a:r>
          </a:p>
        </p:txBody>
      </p:sp>
    </p:spTree>
    <p:extLst>
      <p:ext uri="{BB962C8B-B14F-4D97-AF65-F5344CB8AC3E}">
        <p14:creationId xmlns:p14="http://schemas.microsoft.com/office/powerpoint/2010/main" val="1936958917"/>
      </p:ext>
    </p:extLst>
  </p:cSld>
</p:sld>
</file>

<file path=ppt/slides/slide22.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C979E222-D155-4CC5-9924-EB5D301335BD}"/>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CA6649E9-4E25-48BF-9CB8-DDAFB8488C17}"/>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AUDIT-STORE DESIGN</a:t>
            </a:r>
          </a:p>
        </p:txBody>
      </p:sp>
      <p:sp>
        <p:nvSpPr>
          <p:cNvPr id="3" name="title">
            <a:extLst xmlns:a="http://schemas.openxmlformats.org/drawingml/2006/main">
              <a:ext uri="{FF2B5EF4-FFF2-40B4-BE49-F238E27FC236}">
                <a16:creationId xmlns:a16="http://schemas.microsoft.com/office/drawing/2014/main" id="{53952F33-7ED3-49C0-90A3-1B2E1C915AE2}"/>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Fingerprints support lookup, comparison and replay</a:t>
            </a:r>
          </a:p>
        </p:txBody>
      </p:sp>
      <p:sp>
        <p:nvSpPr>
          <p:cNvPr id="4" name="brand-rule-72-831">
            <a:extLst xmlns:a="http://schemas.openxmlformats.org/drawingml/2006/main">
              <a:ext uri="{FF2B5EF4-FFF2-40B4-BE49-F238E27FC236}">
                <a16:creationId xmlns:a16="http://schemas.microsoft.com/office/drawing/2014/main" id="{3D3FB22A-E58F-40B7-A1AC-5794B3C7DB1B}"/>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0E5AFE8E-7060-4B9A-AB57-E4F5D3BA46C8}"/>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74C9B335-B95D-436E-BC27-1ACB913605DA}"/>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22</a:t>
            </a:r>
          </a:p>
        </p:txBody>
      </p:sp>
      <p:graphicFrame>
        <p:nvGraphicFramePr>
          <p:cNvPr id="16" name=""/>
          <p:cNvGraphicFramePr/>
          <p:nvPr/>
        </p:nvGraphicFramePr>
        <p:xfrm>
          <a:off xmlns:a="http://schemas.openxmlformats.org/drawingml/2006/main" x="685800" y="2476500"/>
          <a:ext xmlns:a="http://schemas.openxmlformats.org/drawingml/2006/main" cx="13868400" cy="3714750"/>
        </p:xfrm>
        <a:graphic xmlns:a="http://schemas.openxmlformats.org/drawingml/2006/main">
          <a:graphicData uri="http://schemas.openxmlformats.org/drawingml/2006/table">
            <a:tbl>
              <a:tblPr/>
              <a:tblGrid>
                <a:gridCol w="3714750"/>
                <a:gridCol w="3714750"/>
                <a:gridCol w="6438900"/>
              </a:tblGrid>
              <a:tr h="928688">
                <a:tc>
                  <a:txBody>
                    <a:bodyPr lIns="171450" tIns="152400" rIns="171450" bIns="95250" anchor="ctr">
                      <a:noAutofit/>
                    </a:bodyPr>
                    <a:lstStyle/>
                    <a:p>
                      <a:r>
                        <a:rPr sz="2400" b="1">
                          <a:solidFill>
                            <a:srgbClr val="FFFFFF"/>
                          </a:solidFill>
                          <a:latin typeface="Arial"/>
                          <a:ea typeface="Arial"/>
                          <a:cs typeface="Arial"/>
                        </a:rPr>
                        <a:t>Fingerprint</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Question it answers</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How it is used</a:t>
                      </a:r>
                    </a:p>
                  </a:txBody>
                  <a:tcPr marL="91440" marR="91440" marT="45720" marB="45720">
                    <a:solidFill>
                      <a:srgbClr val="312D2A"/>
                    </a:solidFill>
                  </a:tcPr>
                </a:tc>
              </a:tr>
              <a:tr h="928688">
                <a:tc>
                  <a:txBody>
                    <a:bodyPr lIns="171450" tIns="152400" rIns="171450" bIns="95250" anchor="ctr">
                      <a:noAutofit/>
                    </a:bodyPr>
                    <a:lstStyle/>
                    <a:p>
                      <a:r>
                        <a:rPr sz="2025" b="0">
                          <a:solidFill>
                            <a:srgbClr val="312D2A"/>
                          </a:solidFill>
                          <a:latin typeface="Arial"/>
                          <a:ea typeface="Arial"/>
                          <a:cs typeface="Arial"/>
                        </a:rPr>
                        <a:t>Row-key fingerprint</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Which row is this?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HMAC over source/table identity and canonical key → indexed lookup.</a:t>
                      </a:r>
                    </a:p>
                  </a:txBody>
                  <a:tcPr marL="91440" marR="91440" marT="45720" marB="45720">
                    <a:solidFill>
                      <a:srgbClr val="FFFFFF"/>
                    </a:solidFill>
                  </a:tcPr>
                </a:tc>
              </a:tr>
              <a:tr h="928688">
                <a:tc>
                  <a:txBody>
                    <a:bodyPr lIns="171450" tIns="152400" rIns="171450" bIns="95250" anchor="ctr">
                      <a:noAutofit/>
                    </a:bodyPr>
                    <a:lstStyle/>
                    <a:p>
                      <a:r>
                        <a:rPr sz="2025" b="0">
                          <a:solidFill>
                            <a:srgbClr val="312D2A"/>
                          </a:solidFill>
                          <a:latin typeface="Arial"/>
                          <a:ea typeface="Arial"/>
                          <a:cs typeface="Arial"/>
                        </a:rPr>
                        <a:t>Image fingerprint</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Did its contents change?</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Compare BEFORE / AFTER content while preserving type/schema context.</a:t>
                      </a:r>
                    </a:p>
                  </a:txBody>
                  <a:tcPr marL="91440" marR="91440" marT="45720" marB="45720">
                    <a:solidFill>
                      <a:srgbClr val="FFFFFF"/>
                    </a:solidFill>
                  </a:tcPr>
                </a:tc>
              </a:tr>
              <a:tr h="928688">
                <a:tc>
                  <a:txBody>
                    <a:bodyPr lIns="171450" tIns="152400" rIns="171450" bIns="95250" anchor="ctr">
                      <a:noAutofit/>
                    </a:bodyPr>
                    <a:lstStyle/>
                    <a:p>
                      <a:r>
                        <a:rPr sz="2025" b="0">
                          <a:solidFill>
                            <a:srgbClr val="312D2A"/>
                          </a:solidFill>
                          <a:latin typeface="Arial"/>
                          <a:ea typeface="Arial"/>
                          <a:cs typeface="Arial"/>
                        </a:rPr>
                        <a:t>Event identity</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Have we stored this event?</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Source coordinates + lineage; independent ledger rejects replay duplicates.</a:t>
                      </a:r>
                    </a:p>
                  </a:txBody>
                  <a:tcPr marL="91440" marR="91440" marT="45720" marB="45720">
                    <a:solidFill>
                      <a:srgbClr val="FFFFFF"/>
                    </a:solidFill>
                  </a:tcPr>
                </a:tc>
              </a:tr>
            </a:tbl>
          </a:graphicData>
        </a:graphic>
      </p:graphicFrame>
      <p:sp>
        <p:nvSpPr>
          <p:cNvPr id="8" name="dedup-note">
            <a:extLst xmlns:a="http://schemas.openxmlformats.org/drawingml/2006/main">
              <a:ext uri="{FF2B5EF4-FFF2-40B4-BE49-F238E27FC236}">
                <a16:creationId xmlns:a16="http://schemas.microsoft.com/office/drawing/2014/main" id="{FF7CA908-3DF7-47F3-B809-89C0B9B22730}"/>
              </a:ext>
            </a:extLst>
          </p:cNvPr>
          <p:cNvSpPr>
            <a:spLocks xmlns:a="http://schemas.openxmlformats.org/drawingml/2006/main" noGrp="1"/>
          </p:cNvSpPr>
          <p:nvPr/>
        </p:nvSpPr>
        <p:spPr>
          <a:xfrm xmlns:a="http://schemas.openxmlformats.org/drawingml/2006/main">
            <a:off x="685800" y="6648450"/>
            <a:ext cx="13868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1">
                <a:solidFill>
                  <a:srgbClr val="AE562C"/>
                </a:solidFill>
                <a:latin typeface="Arial"/>
                <a:ea typeface="Arial"/>
                <a:cs typeface="Arial"/>
              </a:defRPr>
            </a:pPr>
            <a:r>
              <a:rPr sz="2325" b="1">
                <a:solidFill>
                  <a:srgbClr val="AE562C"/>
                </a:solidFill>
                <a:latin typeface="Arial"/>
                <a:ea typeface="Arial"/>
                <a:cs typeface="Arial"/>
              </a:rPr>
              <a:t>The same source event can be retried at a new queue offset. Queue offsets alone do not prove a new change.</a:t>
            </a:r>
          </a:p>
        </p:txBody>
      </p:sp>
    </p:spTree>
    <p:extLst>
      <p:ext uri="{BB962C8B-B14F-4D97-AF65-F5344CB8AC3E}">
        <p14:creationId xmlns:p14="http://schemas.microsoft.com/office/powerpoint/2010/main" val="777398123"/>
      </p:ext>
    </p:extLst>
  </p:cSld>
</p:sld>
</file>

<file path=ppt/slides/slide23.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A9D9D3D2-5964-4EDE-894F-8713104ACF20}"/>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F72BAC20-88EF-41E9-8765-DD3C5AE10526}"/>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TARGET AUDIT STORAGE</a:t>
            </a:r>
          </a:p>
        </p:txBody>
      </p:sp>
      <p:sp>
        <p:nvSpPr>
          <p:cNvPr id="3" name="title">
            <a:extLst xmlns:a="http://schemas.openxmlformats.org/drawingml/2006/main">
              <a:ext uri="{FF2B5EF4-FFF2-40B4-BE49-F238E27FC236}">
                <a16:creationId xmlns:a16="http://schemas.microsoft.com/office/drawing/2014/main" id="{FBDCA671-B0A6-4DA3-A9A6-7E8A07FE1078}"/>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Partitions manage time; indexes find the row</a:t>
            </a:r>
          </a:p>
        </p:txBody>
      </p:sp>
      <p:sp>
        <p:nvSpPr>
          <p:cNvPr id="4" name="brand-rule-72-831">
            <a:extLst xmlns:a="http://schemas.openxmlformats.org/drawingml/2006/main">
              <a:ext uri="{FF2B5EF4-FFF2-40B4-BE49-F238E27FC236}">
                <a16:creationId xmlns:a16="http://schemas.microsoft.com/office/drawing/2014/main" id="{91BABDA6-30A5-4F1F-9D73-C314DEC01D58}"/>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57370A20-8007-4DB4-BFFF-F60379EFCE13}"/>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A6B17687-67B4-47DA-9C53-3279B6199AD9}"/>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23</a:t>
            </a:r>
          </a:p>
        </p:txBody>
      </p:sp>
      <p:sp>
        <p:nvSpPr>
          <p:cNvPr id="7" name="label-MONTHLY EVENT TABLES">
            <a:extLst xmlns:a="http://schemas.openxmlformats.org/drawingml/2006/main">
              <a:ext uri="{FF2B5EF4-FFF2-40B4-BE49-F238E27FC236}">
                <a16:creationId xmlns:a16="http://schemas.microsoft.com/office/drawing/2014/main" id="{2750D281-2B81-4682-93EF-2F17018C4A19}"/>
              </a:ext>
            </a:extLst>
          </p:cNvPr>
          <p:cNvSpPr>
            <a:spLocks xmlns:a="http://schemas.openxmlformats.org/drawingml/2006/main" noGrp="1"/>
          </p:cNvSpPr>
          <p:nvPr/>
        </p:nvSpPr>
        <p:spPr>
          <a:xfrm xmlns:a="http://schemas.openxmlformats.org/drawingml/2006/main">
            <a:off x="685800" y="261937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MONTHLY EVENT TABLES</a:t>
            </a:r>
          </a:p>
        </p:txBody>
      </p:sp>
      <p:sp>
        <p:nvSpPr>
          <p:cNvPr id="8" name="bullet-0">
            <a:extLst xmlns:a="http://schemas.openxmlformats.org/drawingml/2006/main">
              <a:ext uri="{FF2B5EF4-FFF2-40B4-BE49-F238E27FC236}">
                <a16:creationId xmlns:a16="http://schemas.microsoft.com/office/drawing/2014/main" id="{84CD7CB3-D87A-4210-AC4F-B1C0CED5E315}"/>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9" name="body-0">
            <a:extLst xmlns:a="http://schemas.openxmlformats.org/drawingml/2006/main">
              <a:ext uri="{FF2B5EF4-FFF2-40B4-BE49-F238E27FC236}">
                <a16:creationId xmlns:a16="http://schemas.microsoft.com/office/drawing/2014/main" id="{C98A5C28-F95A-4AF4-B0B7-E3561BD750B2}"/>
              </a:ext>
            </a:extLst>
          </p:cNvPr>
          <p:cNvSpPr>
            <a:spLocks xmlns:a="http://schemas.openxmlformats.org/drawingml/2006/main" noGrp="1"/>
          </p:cNvSpPr>
          <p:nvPr/>
        </p:nvSpPr>
        <p:spPr>
          <a:xfrm xmlns:a="http://schemas.openxmlformats.org/drawingml/2006/main">
            <a:off x="1009650" y="3333750"/>
            <a:ext cx="5962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312D2A"/>
                </a:solidFill>
                <a:latin typeface="Arial"/>
                <a:ea typeface="Arial"/>
                <a:cs typeface="Arial"/>
              </a:defRPr>
            </a:pPr>
            <a:r>
              <a:rPr sz="2400" b="0">
                <a:solidFill>
                  <a:srgbClr val="312D2A"/>
                </a:solidFill>
                <a:latin typeface="Arial"/>
                <a:ea typeface="Arial"/>
                <a:cs typeface="Arial"/>
              </a:rPr>
              <a:t>Keep complete row images and source metadata.</a:t>
            </a:r>
          </a:p>
        </p:txBody>
      </p:sp>
      <p:sp>
        <p:nvSpPr>
          <p:cNvPr id="10" name="bullet-1">
            <a:extLst xmlns:a="http://schemas.openxmlformats.org/drawingml/2006/main">
              <a:ext uri="{FF2B5EF4-FFF2-40B4-BE49-F238E27FC236}">
                <a16:creationId xmlns:a16="http://schemas.microsoft.com/office/drawing/2014/main" id="{3242B63B-DFE8-4EBB-B165-014F5167FC4F}"/>
              </a:ext>
            </a:extLst>
          </p:cNvPr>
          <p:cNvSpPr>
            <a:spLocks xmlns:a="http://schemas.openxmlformats.org/drawingml/2006/main" noGrp="1"/>
          </p:cNvSpPr>
          <p:nvPr/>
        </p:nvSpPr>
        <p:spPr>
          <a:xfrm xmlns:a="http://schemas.openxmlformats.org/drawingml/2006/main">
            <a:off x="685800" y="4572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11" name="body-1">
            <a:extLst xmlns:a="http://schemas.openxmlformats.org/drawingml/2006/main">
              <a:ext uri="{FF2B5EF4-FFF2-40B4-BE49-F238E27FC236}">
                <a16:creationId xmlns:a16="http://schemas.microsoft.com/office/drawing/2014/main" id="{54CB54C0-3068-4E14-8234-04615D6C1BAF}"/>
              </a:ext>
            </a:extLst>
          </p:cNvPr>
          <p:cNvSpPr>
            <a:spLocks xmlns:a="http://schemas.openxmlformats.org/drawingml/2006/main" noGrp="1"/>
          </p:cNvSpPr>
          <p:nvPr/>
        </p:nvSpPr>
        <p:spPr>
          <a:xfrm xmlns:a="http://schemas.openxmlformats.org/drawingml/2006/main">
            <a:off x="1009650" y="4572000"/>
            <a:ext cx="5962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312D2A"/>
                </a:solidFill>
                <a:latin typeface="Arial"/>
                <a:ea typeface="Arial"/>
                <a:cs typeface="Arial"/>
              </a:defRPr>
            </a:pPr>
            <a:r>
              <a:rPr sz="2400" b="0">
                <a:solidFill>
                  <a:srgbClr val="312D2A"/>
                </a:solidFill>
                <a:latin typeface="Arial"/>
                <a:ea typeface="Arial"/>
                <a:cs typeface="Arial"/>
              </a:rPr>
              <a:t>Partition by UTC event_time with a monthly runway.</a:t>
            </a:r>
          </a:p>
        </p:txBody>
      </p:sp>
      <p:sp>
        <p:nvSpPr>
          <p:cNvPr id="12" name="bullet-2">
            <a:extLst xmlns:a="http://schemas.openxmlformats.org/drawingml/2006/main">
              <a:ext uri="{FF2B5EF4-FFF2-40B4-BE49-F238E27FC236}">
                <a16:creationId xmlns:a16="http://schemas.microsoft.com/office/drawing/2014/main" id="{EBFE4EF3-D2E0-440F-82D5-4A965C384CE5}"/>
              </a:ext>
            </a:extLst>
          </p:cNvPr>
          <p:cNvSpPr>
            <a:spLocks xmlns:a="http://schemas.openxmlformats.org/drawingml/2006/main" noGrp="1"/>
          </p:cNvSpPr>
          <p:nvPr/>
        </p:nvSpPr>
        <p:spPr>
          <a:xfrm xmlns:a="http://schemas.openxmlformats.org/drawingml/2006/main">
            <a:off x="685800" y="58102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13" name="body-2">
            <a:extLst xmlns:a="http://schemas.openxmlformats.org/drawingml/2006/main">
              <a:ext uri="{FF2B5EF4-FFF2-40B4-BE49-F238E27FC236}">
                <a16:creationId xmlns:a16="http://schemas.microsoft.com/office/drawing/2014/main" id="{39C15C83-9592-43B4-A59F-B65E64D4F836}"/>
              </a:ext>
            </a:extLst>
          </p:cNvPr>
          <p:cNvSpPr>
            <a:spLocks xmlns:a="http://schemas.openxmlformats.org/drawingml/2006/main" noGrp="1"/>
          </p:cNvSpPr>
          <p:nvPr/>
        </p:nvSpPr>
        <p:spPr>
          <a:xfrm xmlns:a="http://schemas.openxmlformats.org/drawingml/2006/main">
            <a:off x="1009650" y="5810250"/>
            <a:ext cx="59626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312D2A"/>
                </a:solidFill>
                <a:latin typeface="Arial"/>
                <a:ea typeface="Arial"/>
                <a:cs typeface="Arial"/>
              </a:defRPr>
            </a:pPr>
            <a:r>
              <a:rPr sz="2400" b="0">
                <a:solidFill>
                  <a:srgbClr val="312D2A"/>
                </a:solidFill>
                <a:latin typeface="Arial"/>
                <a:ea typeface="Arial"/>
                <a:cs typeface="Arial"/>
              </a:rPr>
              <a:t>Use an indexed flow + key hash + event-time path.</a:t>
            </a:r>
          </a:p>
        </p:txBody>
      </p:sp>
      <p:sp>
        <p:nvSpPr>
          <p:cNvPr id="14" name="label-INDEPENDENT IDENTITY LEDGER">
            <a:extLst xmlns:a="http://schemas.openxmlformats.org/drawingml/2006/main">
              <a:ext uri="{FF2B5EF4-FFF2-40B4-BE49-F238E27FC236}">
                <a16:creationId xmlns:a16="http://schemas.microsoft.com/office/drawing/2014/main" id="{67471F2C-082A-40BF-BCDB-B3D84F5A692A}"/>
              </a:ext>
            </a:extLst>
          </p:cNvPr>
          <p:cNvSpPr>
            <a:spLocks xmlns:a="http://schemas.openxmlformats.org/drawingml/2006/main" noGrp="1"/>
          </p:cNvSpPr>
          <p:nvPr/>
        </p:nvSpPr>
        <p:spPr>
          <a:xfrm xmlns:a="http://schemas.openxmlformats.org/drawingml/2006/main">
            <a:off x="8286750" y="2619375"/>
            <a:ext cx="6267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INDEPENDENT IDENTITY LEDGER</a:t>
            </a:r>
          </a:p>
        </p:txBody>
      </p:sp>
      <p:sp>
        <p:nvSpPr>
          <p:cNvPr id="15" name="bullet-0">
            <a:extLst xmlns:a="http://schemas.openxmlformats.org/drawingml/2006/main">
              <a:ext uri="{FF2B5EF4-FFF2-40B4-BE49-F238E27FC236}">
                <a16:creationId xmlns:a16="http://schemas.microsoft.com/office/drawing/2014/main" id="{F5D654DF-FFA3-45CC-A23A-410324D7CC2B}"/>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16" name="body-0">
            <a:extLst xmlns:a="http://schemas.openxmlformats.org/drawingml/2006/main">
              <a:ext uri="{FF2B5EF4-FFF2-40B4-BE49-F238E27FC236}">
                <a16:creationId xmlns:a16="http://schemas.microsoft.com/office/drawing/2014/main" id="{23C402EF-A9B5-445B-8040-871186AD42F0}"/>
              </a:ext>
            </a:extLst>
          </p:cNvPr>
          <p:cNvSpPr>
            <a:spLocks xmlns:a="http://schemas.openxmlformats.org/drawingml/2006/main" noGrp="1"/>
          </p:cNvSpPr>
          <p:nvPr/>
        </p:nvSpPr>
        <p:spPr>
          <a:xfrm xmlns:a="http://schemas.openxmlformats.org/drawingml/2006/main">
            <a:off x="8610600" y="333375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312D2A"/>
                </a:solidFill>
                <a:latin typeface="Arial"/>
                <a:ea typeface="Arial"/>
                <a:cs typeface="Arial"/>
              </a:defRPr>
            </a:pPr>
            <a:r>
              <a:rPr sz="2400" b="0">
                <a:solidFill>
                  <a:srgbClr val="312D2A"/>
                </a:solidFill>
                <a:latin typeface="Arial"/>
                <a:ea typeface="Arial"/>
                <a:cs typeface="Arial"/>
              </a:rPr>
              <a:t>Keep event identity unique across partitions.</a:t>
            </a:r>
          </a:p>
        </p:txBody>
      </p:sp>
      <p:sp>
        <p:nvSpPr>
          <p:cNvPr id="17" name="bullet-1">
            <a:extLst xmlns:a="http://schemas.openxmlformats.org/drawingml/2006/main">
              <a:ext uri="{FF2B5EF4-FFF2-40B4-BE49-F238E27FC236}">
                <a16:creationId xmlns:a16="http://schemas.microsoft.com/office/drawing/2014/main" id="{0A282C58-694E-4702-AAB5-A6300923E2FA}"/>
              </a:ext>
            </a:extLst>
          </p:cNvPr>
          <p:cNvSpPr>
            <a:spLocks xmlns:a="http://schemas.openxmlformats.org/drawingml/2006/main" noGrp="1"/>
          </p:cNvSpPr>
          <p:nvPr/>
        </p:nvSpPr>
        <p:spPr>
          <a:xfrm xmlns:a="http://schemas.openxmlformats.org/drawingml/2006/main">
            <a:off x="8286750" y="4572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18" name="body-1">
            <a:extLst xmlns:a="http://schemas.openxmlformats.org/drawingml/2006/main">
              <a:ext uri="{FF2B5EF4-FFF2-40B4-BE49-F238E27FC236}">
                <a16:creationId xmlns:a16="http://schemas.microsoft.com/office/drawing/2014/main" id="{3000BAA8-1DF5-4A95-9073-2BE9B38AD64E}"/>
              </a:ext>
            </a:extLst>
          </p:cNvPr>
          <p:cNvSpPr>
            <a:spLocks xmlns:a="http://schemas.openxmlformats.org/drawingml/2006/main" noGrp="1"/>
          </p:cNvSpPr>
          <p:nvPr/>
        </p:nvSpPr>
        <p:spPr>
          <a:xfrm xmlns:a="http://schemas.openxmlformats.org/drawingml/2006/main">
            <a:off x="8610600" y="457200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312D2A"/>
                </a:solidFill>
                <a:latin typeface="Arial"/>
                <a:ea typeface="Arial"/>
                <a:cs typeface="Arial"/>
              </a:defRPr>
            </a:pPr>
            <a:r>
              <a:rPr sz="2400" b="0">
                <a:solidFill>
                  <a:srgbClr val="312D2A"/>
                </a:solidFill>
                <a:latin typeface="Arial"/>
                <a:ea typeface="Arial"/>
                <a:cs typeface="Arial"/>
              </a:rPr>
              <a:t>Write ledger and payload in one target transaction.</a:t>
            </a:r>
          </a:p>
        </p:txBody>
      </p:sp>
      <p:sp>
        <p:nvSpPr>
          <p:cNvPr id="19" name="bullet-2">
            <a:extLst xmlns:a="http://schemas.openxmlformats.org/drawingml/2006/main">
              <a:ext uri="{FF2B5EF4-FFF2-40B4-BE49-F238E27FC236}">
                <a16:creationId xmlns:a16="http://schemas.microsoft.com/office/drawing/2014/main" id="{9AE2DD56-1004-48F3-AFA5-F641CD1ED62F}"/>
              </a:ext>
            </a:extLst>
          </p:cNvPr>
          <p:cNvSpPr>
            <a:spLocks xmlns:a="http://schemas.openxmlformats.org/drawingml/2006/main" noGrp="1"/>
          </p:cNvSpPr>
          <p:nvPr/>
        </p:nvSpPr>
        <p:spPr>
          <a:xfrm xmlns:a="http://schemas.openxmlformats.org/drawingml/2006/main">
            <a:off x="8286750" y="58102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0">
                <a:solidFill>
                  <a:srgbClr val="C74634"/>
                </a:solidFill>
                <a:latin typeface="Arial"/>
                <a:ea typeface="Arial"/>
                <a:cs typeface="Arial"/>
              </a:defRPr>
            </a:pPr>
            <a:r>
              <a:rPr sz="2400" b="0">
                <a:solidFill>
                  <a:srgbClr val="C74634"/>
                </a:solidFill>
                <a:latin typeface="Arial"/>
                <a:ea typeface="Arial"/>
                <a:cs typeface="Arial"/>
              </a:rPr>
              <a:t>•</a:t>
            </a:r>
          </a:p>
        </p:txBody>
      </p:sp>
      <p:sp>
        <p:nvSpPr>
          <p:cNvPr id="20" name="body-2">
            <a:extLst xmlns:a="http://schemas.openxmlformats.org/drawingml/2006/main">
              <a:ext uri="{FF2B5EF4-FFF2-40B4-BE49-F238E27FC236}">
                <a16:creationId xmlns:a16="http://schemas.microsoft.com/office/drawing/2014/main" id="{69E6E630-E497-462F-84BC-6C810349A599}"/>
              </a:ext>
            </a:extLst>
          </p:cNvPr>
          <p:cNvSpPr>
            <a:spLocks xmlns:a="http://schemas.openxmlformats.org/drawingml/2006/main" noGrp="1"/>
          </p:cNvSpPr>
          <p:nvPr/>
        </p:nvSpPr>
        <p:spPr>
          <a:xfrm xmlns:a="http://schemas.openxmlformats.org/drawingml/2006/main">
            <a:off x="8610600" y="581025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a:solidFill>
                  <a:srgbClr val="312D2A"/>
                </a:solidFill>
                <a:latin typeface="Arial"/>
                <a:ea typeface="Arial"/>
                <a:cs typeface="Arial"/>
              </a:rPr>
              <a:t>Grouped cleanup needs coordinated review.</a:t>
            </a:r>
          </a:p>
        </p:txBody>
      </p:sp>
      <p:sp>
        <p:nvSpPr>
          <p:cNvPr id="21" name="partition-rule">
            <a:extLst xmlns:a="http://schemas.openxmlformats.org/drawingml/2006/main">
              <a:ext uri="{FF2B5EF4-FFF2-40B4-BE49-F238E27FC236}">
                <a16:creationId xmlns:a16="http://schemas.microsoft.com/office/drawing/2014/main" id="{9756DB88-7E0D-4C1F-BFFF-A7ED91828206}"/>
              </a:ext>
            </a:extLst>
          </p:cNvPr>
          <p:cNvSpPr>
            <a:spLocks xmlns:a="http://schemas.openxmlformats.org/drawingml/2006/main" noGrp="1"/>
          </p:cNvSpPr>
          <p:nvPr/>
        </p:nvSpPr>
        <p:spPr>
          <a:xfrm xmlns:a="http://schemas.openxmlformats.org/drawingml/2006/main">
            <a:off x="685800" y="7086600"/>
            <a:ext cx="13868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025" b="0">
                <a:solidFill>
                  <a:srgbClr val="6F6861"/>
                </a:solidFill>
                <a:latin typeface="Arial"/>
                <a:ea typeface="Arial"/>
                <a:cs typeface="Arial"/>
              </a:defRPr>
            </a:pPr>
            <a:r>
              <a:rPr sz="2025" b="0">
                <a:solidFill>
                  <a:srgbClr val="6F6861"/>
                </a:solidFill>
                <a:latin typeface="Arial"/>
                <a:ea typeface="Arial"/>
                <a:cs typeface="Arial"/>
              </a:rPr>
              <a:t>MySQL requires the partition column in every unique key.</a:t>
            </a:r>
          </a:p>
          <a:p xmlns:a="http://schemas.openxmlformats.org/drawingml/2006/main">
            <a:pPr>
              <a:buNone/>
              <a:defRPr sz="2025" b="0">
                <a:solidFill>
                  <a:srgbClr val="6F6861"/>
                </a:solidFill>
                <a:latin typeface="Arial"/>
                <a:ea typeface="Arial"/>
                <a:cs typeface="Arial"/>
              </a:defRPr>
            </a:pPr>
            <a:r>
              <a:rPr sz="2025" b="0">
                <a:solidFill>
                  <a:srgbClr val="6F6861"/>
                </a:solidFill>
                <a:latin typeface="Arial"/>
                <a:ea typeface="Arial"/>
                <a:cs typeface="Arial"/>
              </a:rPr>
              <a:t>New payload tables use PRIMARY KEY (event_time, event_id).</a:t>
            </a:r>
          </a:p>
        </p:txBody>
      </p:sp>
    </p:spTree>
    <p:extLst>
      <p:ext uri="{BB962C8B-B14F-4D97-AF65-F5344CB8AC3E}">
        <p14:creationId xmlns:p14="http://schemas.microsoft.com/office/powerpoint/2010/main" val="1078641660"/>
      </p:ext>
    </p:extLst>
  </p:cSld>
</p:sld>
</file>

<file path=ppt/slides/slide24.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52EEAD04-B3CB-4755-92D4-ED9BBD564B9D}"/>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FB4DAAC-1FA1-4493-AC52-644A8EA97FFF}"/>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FIND A DATA CHANGE</a:t>
            </a:r>
          </a:p>
        </p:txBody>
      </p:sp>
      <p:sp>
        <p:nvSpPr>
          <p:cNvPr id="3" name="title">
            <a:extLst xmlns:a="http://schemas.openxmlformats.org/drawingml/2006/main">
              <a:ext uri="{FF2B5EF4-FFF2-40B4-BE49-F238E27FC236}">
                <a16:creationId xmlns:a16="http://schemas.microsoft.com/office/drawing/2014/main" id="{C47DF8CA-74F4-4A8E-AB22-1BC5D254229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Search a server, table and complete primary key</a:t>
            </a:r>
          </a:p>
        </p:txBody>
      </p:sp>
      <p:sp>
        <p:nvSpPr>
          <p:cNvPr id="4" name="subtitle">
            <a:extLst xmlns:a="http://schemas.openxmlformats.org/drawingml/2006/main">
              <a:ext uri="{FF2B5EF4-FFF2-40B4-BE49-F238E27FC236}">
                <a16:creationId xmlns:a16="http://schemas.microsoft.com/office/drawing/2014/main" id="{CE59FCDB-3461-41E4-8AC3-D9F2000BB954}"/>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Example key: {"id":1042}. For wildcards, select the actual source database and table.</a:t>
            </a:r>
          </a:p>
        </p:txBody>
      </p:sp>
      <p:sp>
        <p:nvSpPr>
          <p:cNvPr id="5" name="brand-rule-72-831">
            <a:extLst xmlns:a="http://schemas.openxmlformats.org/drawingml/2006/main">
              <a:ext uri="{FF2B5EF4-FFF2-40B4-BE49-F238E27FC236}">
                <a16:creationId xmlns:a16="http://schemas.microsoft.com/office/drawing/2014/main" id="{D10FB954-B873-4DEB-A775-9E1ACFD6ECC9}"/>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C1D374BE-A1FA-41C2-8CBC-800DAA54061F}"/>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004F161A-C2B2-4085-B632-B70BD6B47B17}"/>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24</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676f9975b9a4f72"/>
          <a:stretch xmlns:a="http://schemas.openxmlformats.org/drawingml/2006/main"/>
        </p:blipFill>
        <p:spPr>
          <a:xfrm xmlns:a="http://schemas.openxmlformats.org/drawingml/2006/main">
            <a:off x="3556410" y="2751735"/>
            <a:ext cx="8127180" cy="1354530"/>
          </a:xfrm>
          <a:prstGeom xmlns:a="http://schemas.openxmlformats.org/drawingml/2006/main" prst="rect">
            <a:avLst/>
          </a:prstGeom>
        </p:spPr>
      </p:pic>
      <p:sp>
        <p:nvSpPr>
          <p:cNvPr id="9" name="typed-key">
            <a:extLst xmlns:a="http://schemas.openxmlformats.org/drawingml/2006/main">
              <a:ext uri="{FF2B5EF4-FFF2-40B4-BE49-F238E27FC236}">
                <a16:creationId xmlns:a16="http://schemas.microsoft.com/office/drawing/2014/main" id="{BF86BDFC-1366-4C93-9E51-3CA933520D71}"/>
              </a:ext>
            </a:extLst>
          </p:cNvPr>
          <p:cNvSpPr>
            <a:spLocks xmlns:a="http://schemas.openxmlformats.org/drawingml/2006/main" noGrp="1"/>
          </p:cNvSpPr>
          <p:nvPr/>
        </p:nvSpPr>
        <p:spPr>
          <a:xfrm xmlns:a="http://schemas.openxmlformats.org/drawingml/2006/main">
            <a:off x="685800" y="4762500"/>
            <a:ext cx="6286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375" b="1">
                <a:solidFill>
                  <a:srgbClr val="C74634"/>
                </a:solidFill>
                <a:latin typeface="Consolas"/>
                <a:ea typeface="Consolas"/>
                <a:cs typeface="Consolas"/>
              </a:rPr>
              <a:t>{"id": 1042}</a:t>
            </a:r>
          </a:p>
        </p:txBody>
      </p:sp>
      <p:sp>
        <p:nvSpPr>
          <p:cNvPr id="10" name="bullet-0">
            <a:extLst xmlns:a="http://schemas.openxmlformats.org/drawingml/2006/main">
              <a:ext uri="{FF2B5EF4-FFF2-40B4-BE49-F238E27FC236}">
                <a16:creationId xmlns:a16="http://schemas.microsoft.com/office/drawing/2014/main" id="{AD9101D8-7FDE-4614-BD03-3712E247A672}"/>
              </a:ext>
            </a:extLst>
          </p:cNvPr>
          <p:cNvSpPr>
            <a:spLocks xmlns:a="http://schemas.openxmlformats.org/drawingml/2006/main" noGrp="1"/>
          </p:cNvSpPr>
          <p:nvPr/>
        </p:nvSpPr>
        <p:spPr>
          <a:xfrm xmlns:a="http://schemas.openxmlformats.org/drawingml/2006/main">
            <a:off x="7239000" y="461962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9FD89DF8-2696-4A1F-8D48-42AB97784296}"/>
              </a:ext>
            </a:extLst>
          </p:cNvPr>
          <p:cNvSpPr>
            <a:spLocks xmlns:a="http://schemas.openxmlformats.org/drawingml/2006/main" noGrp="1"/>
          </p:cNvSpPr>
          <p:nvPr/>
        </p:nvSpPr>
        <p:spPr>
          <a:xfrm xmlns:a="http://schemas.openxmlformats.org/drawingml/2006/main">
            <a:off x="7562850" y="4619625"/>
            <a:ext cx="6991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Choose the actual source database / table.</a:t>
            </a:r>
          </a:p>
        </p:txBody>
      </p:sp>
      <p:sp>
        <p:nvSpPr>
          <p:cNvPr id="12" name="bullet-1">
            <a:extLst xmlns:a="http://schemas.openxmlformats.org/drawingml/2006/main">
              <a:ext uri="{FF2B5EF4-FFF2-40B4-BE49-F238E27FC236}">
                <a16:creationId xmlns:a16="http://schemas.microsoft.com/office/drawing/2014/main" id="{38ACC341-7301-489C-9F36-118889CD6C1F}"/>
              </a:ext>
            </a:extLst>
          </p:cNvPr>
          <p:cNvSpPr>
            <a:spLocks xmlns:a="http://schemas.openxmlformats.org/drawingml/2006/main" noGrp="1"/>
          </p:cNvSpPr>
          <p:nvPr/>
        </p:nvSpPr>
        <p:spPr>
          <a:xfrm xmlns:a="http://schemas.openxmlformats.org/drawingml/2006/main">
            <a:off x="7239000" y="547687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E82EDAD8-153B-44E4-A68A-78945921E586}"/>
              </a:ext>
            </a:extLst>
          </p:cNvPr>
          <p:cNvSpPr>
            <a:spLocks xmlns:a="http://schemas.openxmlformats.org/drawingml/2006/main" noGrp="1"/>
          </p:cNvSpPr>
          <p:nvPr/>
        </p:nvSpPr>
        <p:spPr>
          <a:xfrm xmlns:a="http://schemas.openxmlformats.org/drawingml/2006/main">
            <a:off x="7562850" y="5476875"/>
            <a:ext cx="6991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Enter every primary-key column as JSON.</a:t>
            </a:r>
          </a:p>
        </p:txBody>
      </p:sp>
      <p:sp>
        <p:nvSpPr>
          <p:cNvPr id="14" name="bullet-2">
            <a:extLst xmlns:a="http://schemas.openxmlformats.org/drawingml/2006/main">
              <a:ext uri="{FF2B5EF4-FFF2-40B4-BE49-F238E27FC236}">
                <a16:creationId xmlns:a16="http://schemas.microsoft.com/office/drawing/2014/main" id="{DFBA4E3E-174F-48DC-B8EE-D04D6D32AD0A}"/>
              </a:ext>
            </a:extLst>
          </p:cNvPr>
          <p:cNvSpPr>
            <a:spLocks xmlns:a="http://schemas.openxmlformats.org/drawingml/2006/main" noGrp="1"/>
          </p:cNvSpPr>
          <p:nvPr/>
        </p:nvSpPr>
        <p:spPr>
          <a:xfrm xmlns:a="http://schemas.openxmlformats.org/drawingml/2006/main">
            <a:off x="7239000" y="6334125"/>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6E4B235C-5F67-444A-B585-05F5FD44B908}"/>
              </a:ext>
            </a:extLst>
          </p:cNvPr>
          <p:cNvSpPr>
            <a:spLocks xmlns:a="http://schemas.openxmlformats.org/drawingml/2006/main" noGrp="1"/>
          </p:cNvSpPr>
          <p:nvPr/>
        </p:nvSpPr>
        <p:spPr>
          <a:xfrm xmlns:a="http://schemas.openxmlformats.org/drawingml/2006/main">
            <a:off x="7562850" y="6334125"/>
            <a:ext cx="69913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312D2A"/>
                </a:solidFill>
                <a:latin typeface="Arial"/>
                <a:ea typeface="Arial"/>
                <a:cs typeface="Arial"/>
              </a:defRPr>
            </a:pPr>
            <a:r>
              <a:rPr sz="2325" b="0">
                <a:solidFill>
                  <a:srgbClr val="312D2A"/>
                </a:solidFill>
                <a:latin typeface="Arial"/>
                <a:ea typeface="Arial"/>
                <a:cs typeface="Arial"/>
              </a:rPr>
              <a:t>Browse matching events, then compare images.</a:t>
            </a:r>
          </a:p>
        </p:txBody>
      </p:sp>
      <p:sp>
        <p:nvSpPr>
          <p:cNvPr id="16" name="query-path">
            <a:extLst xmlns:a="http://schemas.openxmlformats.org/drawingml/2006/main">
              <a:ext uri="{FF2B5EF4-FFF2-40B4-BE49-F238E27FC236}">
                <a16:creationId xmlns:a16="http://schemas.microsoft.com/office/drawing/2014/main" id="{2C740C41-D890-4DA1-A4DF-4A2FD8BC6C30}"/>
              </a:ext>
            </a:extLst>
          </p:cNvPr>
          <p:cNvSpPr>
            <a:spLocks xmlns:a="http://schemas.openxmlformats.org/drawingml/2006/main" noGrp="1"/>
          </p:cNvSpPr>
          <p:nvPr/>
        </p:nvSpPr>
        <p:spPr>
          <a:xfrm xmlns:a="http://schemas.openxmlformats.org/drawingml/2006/main">
            <a:off x="685800" y="7162800"/>
            <a:ext cx="13868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6F6861"/>
                </a:solidFill>
                <a:latin typeface="Arial"/>
                <a:ea typeface="Arial"/>
                <a:cs typeface="Arial"/>
              </a:defRPr>
            </a:pPr>
            <a:r>
              <a:rPr sz="2175" b="0">
                <a:solidFill>
                  <a:srgbClr val="6F6861"/>
                </a:solidFill>
                <a:latin typeface="Arial"/>
                <a:ea typeface="Arial"/>
                <a:cs typeface="Arial"/>
              </a:rPr>
              <a:t>Lookup path: source + table + key fingerprint → indexed history query → bounded results</a:t>
            </a:r>
          </a:p>
        </p:txBody>
      </p:sp>
    </p:spTree>
    <p:extLst>
      <p:ext uri="{BB962C8B-B14F-4D97-AF65-F5344CB8AC3E}">
        <p14:creationId xmlns:p14="http://schemas.microsoft.com/office/powerpoint/2010/main" val="81429531"/>
      </p:ext>
    </p:extLst>
  </p:cSld>
</p:sld>
</file>

<file path=ppt/slides/slide25.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D4CBE89B-01FB-4F8B-9367-9B1B75F0B67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1CF6717E-1235-4500-A475-486F6FCC6608}"/>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BROWSE THE MATCHING EVENTS</a:t>
            </a:r>
          </a:p>
        </p:txBody>
      </p:sp>
      <p:sp>
        <p:nvSpPr>
          <p:cNvPr id="3" name="title">
            <a:extLst xmlns:a="http://schemas.openxmlformats.org/drawingml/2006/main">
              <a:ext uri="{FF2B5EF4-FFF2-40B4-BE49-F238E27FC236}">
                <a16:creationId xmlns:a16="http://schemas.microsoft.com/office/drawing/2014/main" id="{EC14299E-9070-4956-B793-156430BC71BA}"/>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The history list keeps each captured transition</a:t>
            </a:r>
          </a:p>
        </p:txBody>
      </p:sp>
      <p:sp>
        <p:nvSpPr>
          <p:cNvPr id="4" name="subtitle">
            <a:extLst xmlns:a="http://schemas.openxmlformats.org/drawingml/2006/main">
              <a:ext uri="{FF2B5EF4-FFF2-40B4-BE49-F238E27FC236}">
                <a16:creationId xmlns:a16="http://schemas.microsoft.com/office/drawing/2014/main" id="{A2CF5E9F-5C2F-4F49-B650-259634EE5A79}"/>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Illustrative order history: CREATE, UPDATE and DELETE, with the same typed row key.</a:t>
            </a:r>
          </a:p>
        </p:txBody>
      </p:sp>
      <p:sp>
        <p:nvSpPr>
          <p:cNvPr id="5" name="brand-rule-72-831">
            <a:extLst xmlns:a="http://schemas.openxmlformats.org/drawingml/2006/main">
              <a:ext uri="{FF2B5EF4-FFF2-40B4-BE49-F238E27FC236}">
                <a16:creationId xmlns:a16="http://schemas.microsoft.com/office/drawing/2014/main" id="{C9B5B568-7ACE-4FC5-A71B-14833BA2FEDE}"/>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E5C8B7D-99F2-44E4-A866-49E9C0577249}"/>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E06C4C50-A003-4AAB-AFE9-24C424B57AFB}"/>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25</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df090245cec468c"/>
          <a:stretch xmlns:a="http://schemas.openxmlformats.org/drawingml/2006/main"/>
        </p:blipFill>
        <p:spPr>
          <a:xfrm xmlns:a="http://schemas.openxmlformats.org/drawingml/2006/main">
            <a:off x="4932476" y="2709530"/>
            <a:ext cx="5375049" cy="4105940"/>
          </a:xfrm>
          <a:prstGeom xmlns:a="http://schemas.openxmlformats.org/drawingml/2006/main" prst="rect">
            <a:avLst/>
          </a:prstGeom>
        </p:spPr>
      </p:pic>
      <p:sp>
        <p:nvSpPr>
          <p:cNvPr id="9" name="list-instruction">
            <a:extLst xmlns:a="http://schemas.openxmlformats.org/drawingml/2006/main">
              <a:ext uri="{FF2B5EF4-FFF2-40B4-BE49-F238E27FC236}">
                <a16:creationId xmlns:a16="http://schemas.microsoft.com/office/drawing/2014/main" id="{B536E14A-6F68-4C9F-BE5E-D6B9CE31F351}"/>
              </a:ext>
            </a:extLst>
          </p:cNvPr>
          <p:cNvSpPr>
            <a:spLocks xmlns:a="http://schemas.openxmlformats.org/drawingml/2006/main" noGrp="1"/>
          </p:cNvSpPr>
          <p:nvPr/>
        </p:nvSpPr>
        <p:spPr>
          <a:xfrm xmlns:a="http://schemas.openxmlformats.org/drawingml/2006/main">
            <a:off x="685800" y="7191375"/>
            <a:ext cx="13868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AE562C"/>
                </a:solidFill>
                <a:latin typeface="Arial"/>
                <a:ea typeface="Arial"/>
                <a:cs typeface="Arial"/>
              </a:defRPr>
            </a:pPr>
            <a:r>
              <a:rPr sz="2175" b="0">
                <a:solidFill>
                  <a:srgbClr val="AE562C"/>
                </a:solidFill>
                <a:latin typeface="Arial"/>
                <a:ea typeface="Arial"/>
                <a:cs typeface="Arial"/>
              </a:rPr>
              <a:t>Select one event and choose Compare images. Export selected or loaded matching rows as CSV.</a:t>
            </a:r>
          </a:p>
        </p:txBody>
      </p:sp>
    </p:spTree>
    <p:extLst>
      <p:ext uri="{BB962C8B-B14F-4D97-AF65-F5344CB8AC3E}">
        <p14:creationId xmlns:p14="http://schemas.microsoft.com/office/powerpoint/2010/main" val="1911322108"/>
      </p:ext>
    </p:extLst>
  </p:cSld>
</p:sld>
</file>

<file path=ppt/slides/slide26.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A04317D4-C345-4D18-832E-7A7860317574}"/>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40324105-1E0F-4AD9-953B-2FFCA03A55A2}"/>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INSPECT THE CHANGE</a:t>
            </a:r>
          </a:p>
        </p:txBody>
      </p:sp>
      <p:sp>
        <p:nvSpPr>
          <p:cNvPr id="3" name="title">
            <a:extLst xmlns:a="http://schemas.openxmlformats.org/drawingml/2006/main">
              <a:ext uri="{FF2B5EF4-FFF2-40B4-BE49-F238E27FC236}">
                <a16:creationId xmlns:a16="http://schemas.microsoft.com/office/drawing/2014/main" id="{8E404565-D4D6-4669-A470-08357EFAEDAC}"/>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Compare both images for the same event</a:t>
            </a:r>
          </a:p>
        </p:txBody>
      </p:sp>
      <p:sp>
        <p:nvSpPr>
          <p:cNvPr id="4" name="subtitle">
            <a:extLst xmlns:a="http://schemas.openxmlformats.org/drawingml/2006/main">
              <a:ext uri="{FF2B5EF4-FFF2-40B4-BE49-F238E27FC236}">
                <a16:creationId xmlns:a16="http://schemas.microsoft.com/office/drawing/2014/main" id="{A463FD7D-65C7-4370-8C58-FEB10BE5E7A8}"/>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The key remains id 1042; status and amount change in this illustrative update.</a:t>
            </a:r>
          </a:p>
        </p:txBody>
      </p:sp>
      <p:sp>
        <p:nvSpPr>
          <p:cNvPr id="5" name="brand-rule-72-831">
            <a:extLst xmlns:a="http://schemas.openxmlformats.org/drawingml/2006/main">
              <a:ext uri="{FF2B5EF4-FFF2-40B4-BE49-F238E27FC236}">
                <a16:creationId xmlns:a16="http://schemas.microsoft.com/office/drawing/2014/main" id="{1D1FAE13-B0E2-4938-AEA0-42B28799F694}"/>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9D17725-04C8-44A4-96DD-AB6368DA27E2}"/>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FFE8C39A-8E93-4602-B698-A4CC55B6A50A}"/>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26</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c977b5cb2c043f8"/>
          <a:stretch xmlns:a="http://schemas.openxmlformats.org/drawingml/2006/main"/>
        </p:blipFill>
        <p:spPr>
          <a:xfrm xmlns:a="http://schemas.openxmlformats.org/drawingml/2006/main">
            <a:off x="714529" y="2896742"/>
            <a:ext cx="11086791" cy="4483991"/>
          </a:xfrm>
          <a:prstGeom xmlns:a="http://schemas.openxmlformats.org/drawingml/2006/main" prst="rect">
            <a:avLst/>
          </a:prstGeom>
        </p:spPr>
      </p:pic>
      <p:sp>
        <p:nvSpPr>
          <p:cNvPr id="9" name="label-BEFORE">
            <a:extLst xmlns:a="http://schemas.openxmlformats.org/drawingml/2006/main">
              <a:ext uri="{FF2B5EF4-FFF2-40B4-BE49-F238E27FC236}">
                <a16:creationId xmlns:a16="http://schemas.microsoft.com/office/drawing/2014/main" id="{B56F5CF0-8518-4177-AA72-5603C9A03C0D}"/>
              </a:ext>
            </a:extLst>
          </p:cNvPr>
          <p:cNvSpPr>
            <a:spLocks xmlns:a="http://schemas.openxmlformats.org/drawingml/2006/main" noGrp="1"/>
          </p:cNvSpPr>
          <p:nvPr/>
        </p:nvSpPr>
        <p:spPr>
          <a:xfrm xmlns:a="http://schemas.openxmlformats.org/drawingml/2006/main">
            <a:off x="12430125" y="29718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BEFORE</a:t>
            </a:r>
          </a:p>
        </p:txBody>
      </p:sp>
      <p:sp>
        <p:nvSpPr>
          <p:cNvPr id="10" name="before-value">
            <a:extLst xmlns:a="http://schemas.openxmlformats.org/drawingml/2006/main">
              <a:ext uri="{FF2B5EF4-FFF2-40B4-BE49-F238E27FC236}">
                <a16:creationId xmlns:a16="http://schemas.microsoft.com/office/drawing/2014/main" id="{E3FB0B02-2D0C-485D-8B81-FB18DAA5EE54}"/>
              </a:ext>
            </a:extLst>
          </p:cNvPr>
          <p:cNvSpPr>
            <a:spLocks xmlns:a="http://schemas.openxmlformats.org/drawingml/2006/main" noGrp="1"/>
          </p:cNvSpPr>
          <p:nvPr/>
        </p:nvSpPr>
        <p:spPr>
          <a:xfrm xmlns:a="http://schemas.openxmlformats.org/drawingml/2006/main">
            <a:off x="12430125" y="347662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850" b="1">
                <a:solidFill>
                  <a:srgbClr val="312D2A"/>
                </a:solidFill>
                <a:latin typeface="Arial"/>
                <a:ea typeface="Arial"/>
                <a:cs typeface="Arial"/>
              </a:rPr>
              <a:t>new · 80.00</a:t>
            </a:r>
          </a:p>
        </p:txBody>
      </p:sp>
      <p:sp>
        <p:nvSpPr>
          <p:cNvPr id="11" name="label-AFTER">
            <a:extLst xmlns:a="http://schemas.openxmlformats.org/drawingml/2006/main">
              <a:ext uri="{FF2B5EF4-FFF2-40B4-BE49-F238E27FC236}">
                <a16:creationId xmlns:a16="http://schemas.microsoft.com/office/drawing/2014/main" id="{128122F3-B950-40FB-8BAF-6B0749B540C4}"/>
              </a:ext>
            </a:extLst>
          </p:cNvPr>
          <p:cNvSpPr>
            <a:spLocks xmlns:a="http://schemas.openxmlformats.org/drawingml/2006/main" noGrp="1"/>
          </p:cNvSpPr>
          <p:nvPr/>
        </p:nvSpPr>
        <p:spPr>
          <a:xfrm xmlns:a="http://schemas.openxmlformats.org/drawingml/2006/main">
            <a:off x="12430125" y="48006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486D58"/>
                </a:solidFill>
                <a:latin typeface="Arial"/>
                <a:ea typeface="Arial"/>
                <a:cs typeface="Arial"/>
              </a:defRPr>
            </a:pPr>
            <a:r>
              <a:rPr sz="2400" b="1">
                <a:solidFill>
                  <a:srgbClr val="486D58"/>
                </a:solidFill>
                <a:latin typeface="Arial"/>
                <a:ea typeface="Arial"/>
                <a:cs typeface="Arial"/>
              </a:rPr>
              <a:t>AFTER</a:t>
            </a:r>
          </a:p>
        </p:txBody>
      </p:sp>
      <p:sp>
        <p:nvSpPr>
          <p:cNvPr id="12" name="after-value">
            <a:extLst xmlns:a="http://schemas.openxmlformats.org/drawingml/2006/main">
              <a:ext uri="{FF2B5EF4-FFF2-40B4-BE49-F238E27FC236}">
                <a16:creationId xmlns:a16="http://schemas.microsoft.com/office/drawing/2014/main" id="{36183D3C-23C9-4170-A720-A50A303A0834}"/>
              </a:ext>
            </a:extLst>
          </p:cNvPr>
          <p:cNvSpPr>
            <a:spLocks xmlns:a="http://schemas.openxmlformats.org/drawingml/2006/main" noGrp="1"/>
          </p:cNvSpPr>
          <p:nvPr/>
        </p:nvSpPr>
        <p:spPr>
          <a:xfrm xmlns:a="http://schemas.openxmlformats.org/drawingml/2006/main">
            <a:off x="12430125" y="5305425"/>
            <a:ext cx="2095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850" b="1">
                <a:solidFill>
                  <a:srgbClr val="312D2A"/>
                </a:solidFill>
                <a:latin typeface="Arial"/>
                <a:ea typeface="Arial"/>
                <a:cs typeface="Arial"/>
              </a:rPr>
              <a:t>paid · 99.95</a:t>
            </a:r>
          </a:p>
        </p:txBody>
      </p:sp>
    </p:spTree>
    <p:extLst>
      <p:ext uri="{BB962C8B-B14F-4D97-AF65-F5344CB8AC3E}">
        <p14:creationId xmlns:p14="http://schemas.microsoft.com/office/powerpoint/2010/main" val="1818891396"/>
      </p:ext>
    </p:extLst>
  </p:cSld>
</p:sld>
</file>

<file path=ppt/slides/slide27.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E669E4FF-8F9B-49FC-8EBE-4CF1860C9BC9}"/>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593B0B97-7AB1-4447-ACDB-1DB9D99AA8C1}"/>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BEYOND BUSINESS ROWS</a:t>
            </a:r>
          </a:p>
        </p:txBody>
      </p:sp>
      <p:sp>
        <p:nvSpPr>
          <p:cNvPr id="3" name="title">
            <a:extLst xmlns:a="http://schemas.openxmlformats.org/drawingml/2006/main">
              <a:ext uri="{FF2B5EF4-FFF2-40B4-BE49-F238E27FC236}">
                <a16:creationId xmlns:a16="http://schemas.microsoft.com/office/drawing/2014/main" id="{1D1B541C-B5DD-4138-AB77-8A4930329062}"/>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Structure and security need different evidence</a:t>
            </a:r>
          </a:p>
        </p:txBody>
      </p:sp>
      <p:sp>
        <p:nvSpPr>
          <p:cNvPr id="4" name="brand-rule-72-831">
            <a:extLst xmlns:a="http://schemas.openxmlformats.org/drawingml/2006/main">
              <a:ext uri="{FF2B5EF4-FFF2-40B4-BE49-F238E27FC236}">
                <a16:creationId xmlns:a16="http://schemas.microsoft.com/office/drawing/2014/main" id="{954DD0B5-D5FA-44AC-A20D-8E7D724DBA22}"/>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9CCA15C4-F510-4CC9-8B14-A5A8D258F7F6}"/>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9156E7FE-8A2A-477D-B024-1F2A7403B783}"/>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27</a:t>
            </a:r>
          </a:p>
        </p:txBody>
      </p:sp>
      <p:graphicFrame>
        <p:nvGraphicFramePr>
          <p:cNvPr id="16" name=""/>
          <p:cNvGraphicFramePr/>
          <p:nvPr/>
        </p:nvGraphicFramePr>
        <p:xfrm>
          <a:off xmlns:a="http://schemas.openxmlformats.org/drawingml/2006/main" x="685800" y="2571750"/>
          <a:ext xmlns:a="http://schemas.openxmlformats.org/drawingml/2006/main" cx="13868400" cy="4095750"/>
        </p:xfrm>
        <a:graphic xmlns:a="http://schemas.openxmlformats.org/drawingml/2006/main">
          <a:graphicData uri="http://schemas.openxmlformats.org/drawingml/2006/table">
            <a:tbl>
              <a:tblPr/>
              <a:tblGrid>
                <a:gridCol w="2857500"/>
                <a:gridCol w="6191250"/>
                <a:gridCol w="4819650"/>
              </a:tblGrid>
              <a:tr h="1023938">
                <a:tc>
                  <a:txBody>
                    <a:bodyPr lIns="171450" tIns="152400" rIns="171450" bIns="95250" anchor="ctr">
                      <a:noAutofit/>
                    </a:bodyPr>
                    <a:lstStyle/>
                    <a:p>
                      <a:r>
                        <a:rPr sz="2400" b="1">
                          <a:solidFill>
                            <a:srgbClr val="FFFFFF"/>
                          </a:solidFill>
                          <a:latin typeface="Arial"/>
                          <a:ea typeface="Arial"/>
                          <a:cs typeface="Arial"/>
                        </a:rPr>
                        <a:t>History</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What the audience can understand</a:t>
                      </a:r>
                    </a:p>
                  </a:txBody>
                  <a:tcPr marL="91440" marR="91440" marT="45720" marB="45720">
                    <a:solidFill>
                      <a:srgbClr val="312D2A"/>
                    </a:solidFill>
                  </a:tcPr>
                </a:tc>
                <a:tc>
                  <a:txBody>
                    <a:bodyPr lIns="171450" tIns="152400" rIns="171450" bIns="95250" anchor="ctr">
                      <a:noAutofit/>
                    </a:bodyPr>
                    <a:lstStyle/>
                    <a:p>
                      <a:r>
                        <a:rPr sz="2400" b="1">
                          <a:solidFill>
                            <a:srgbClr val="FFFFFF"/>
                          </a:solidFill>
                          <a:latin typeface="Arial"/>
                          <a:ea typeface="Arial"/>
                          <a:cs typeface="Arial"/>
                        </a:rPr>
                        <a:t>Evidence boundary</a:t>
                      </a:r>
                    </a:p>
                  </a:txBody>
                  <a:tcPr marL="91440" marR="91440" marT="45720" marB="45720">
                    <a:solidFill>
                      <a:srgbClr val="312D2A"/>
                    </a:solidFill>
                  </a:tcPr>
                </a:tc>
              </a:tr>
              <a:tr h="1023938">
                <a:tc>
                  <a:txBody>
                    <a:bodyPr lIns="171450" tIns="152400" rIns="171450" bIns="95250" anchor="ctr">
                      <a:noAutofit/>
                    </a:bodyPr>
                    <a:lstStyle/>
                    <a:p>
                      <a:r>
                        <a:rPr sz="2025" b="0">
                          <a:solidFill>
                            <a:srgbClr val="312D2A"/>
                          </a:solidFill>
                          <a:latin typeface="Arial"/>
                          <a:ea typeface="Arial"/>
                          <a:cs typeface="Arial"/>
                        </a:rPr>
                        <a:t>Row change</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Old and new values for one captured record.</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Committed Debezium row envelopes.</a:t>
                      </a:r>
                    </a:p>
                  </a:txBody>
                  <a:tcPr marL="91440" marR="91440" marT="45720" marB="45720">
                    <a:solidFill>
                      <a:srgbClr val="FFFFFF"/>
                    </a:solidFill>
                  </a:tcPr>
                </a:tc>
              </a:tr>
              <a:tr h="1023938">
                <a:tc>
                  <a:txBody>
                    <a:bodyPr lIns="171450" tIns="152400" rIns="171450" bIns="95250" anchor="ctr">
                      <a:noAutofit/>
                    </a:bodyPr>
                    <a:lstStyle/>
                    <a:p>
                      <a:r>
                        <a:rPr sz="2025" b="0">
                          <a:solidFill>
                            <a:srgbClr val="312D2A"/>
                          </a:solidFill>
                          <a:latin typeface="Arial"/>
                          <a:ea typeface="Arial"/>
                          <a:cs typeface="Arial"/>
                        </a:rPr>
                        <a:t>Schema change</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Added columns; type/default/index/partition differences.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Baseline + public schema events; detailed properties can be partial.</a:t>
                      </a:r>
                    </a:p>
                  </a:txBody>
                  <a:tcPr marL="91440" marR="91440" marT="45720" marB="45720">
                    <a:solidFill>
                      <a:srgbClr val="FFFFFF"/>
                    </a:solidFill>
                  </a:tcPr>
                </a:tc>
              </a:tr>
              <a:tr h="1023938">
                <a:tc>
                  <a:txBody>
                    <a:bodyPr lIns="171450" tIns="152400" rIns="171450" bIns="95250" anchor="ctr">
                      <a:noAutofit/>
                    </a:bodyPr>
                    <a:lstStyle/>
                    <a:p>
                      <a:r>
                        <a:rPr sz="2025" b="0">
                          <a:solidFill>
                            <a:srgbClr val="312D2A"/>
                          </a:solidFill>
                          <a:latin typeface="Arial"/>
                          <a:ea typeface="Arial"/>
                          <a:cs typeface="Arial"/>
                        </a:rPr>
                        <a:t>Privilege or access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Who granted access, role changes and failed attempts.</a:t>
                      </a:r>
                    </a:p>
                  </a:txBody>
                  <a:tcPr marL="91440" marR="91440" marT="45720" marB="45720">
                    <a:solidFill>
                      <a:srgbClr val="FFFFFF"/>
                    </a:solidFill>
                  </a:tcPr>
                </a:tc>
                <a:tc>
                  <a:txBody>
                    <a:bodyPr lIns="171450" tIns="152400" rIns="171450" bIns="95250" anchor="ctr">
                      <a:noAutofit/>
                    </a:bodyPr>
                    <a:lstStyle/>
                    <a:p>
                      <a:r>
                        <a:rPr sz="2025" b="0">
                          <a:solidFill>
                            <a:srgbClr val="312D2A"/>
                          </a:solidFill>
                          <a:latin typeface="Arial"/>
                          <a:ea typeface="Arial"/>
                          <a:cs typeface="Arial"/>
                        </a:rPr>
                        <a:t>Separate database audit collector and entitlement observations.</a:t>
                      </a:r>
                    </a:p>
                  </a:txBody>
                  <a:tcPr marL="91440" marR="91440" marT="45720" marB="45720">
                    <a:solidFill>
                      <a:srgbClr val="FFFFFF"/>
                    </a:solidFill>
                  </a:tcPr>
                </a:tc>
              </a:tr>
            </a:tbl>
          </a:graphicData>
        </a:graphic>
      </p:graphicFrame>
      <p:sp>
        <p:nvSpPr>
          <p:cNvPr id="8" name="ddl-example">
            <a:extLst xmlns:a="http://schemas.openxmlformats.org/drawingml/2006/main">
              <a:ext uri="{FF2B5EF4-FFF2-40B4-BE49-F238E27FC236}">
                <a16:creationId xmlns:a16="http://schemas.microsoft.com/office/drawing/2014/main" id="{D4E3188D-C037-4386-B133-C310446BA0FB}"/>
              </a:ext>
            </a:extLst>
          </p:cNvPr>
          <p:cNvSpPr>
            <a:spLocks xmlns:a="http://schemas.openxmlformats.org/drawingml/2006/main" noGrp="1"/>
          </p:cNvSpPr>
          <p:nvPr/>
        </p:nvSpPr>
        <p:spPr>
          <a:xfrm xmlns:a="http://schemas.openxmlformats.org/drawingml/2006/main">
            <a:off x="685800" y="7048500"/>
            <a:ext cx="13868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AE562C"/>
                </a:solidFill>
                <a:latin typeface="Arial"/>
                <a:ea typeface="Arial"/>
                <a:cs typeface="Arial"/>
              </a:defRPr>
            </a:pPr>
            <a:r>
              <a:rPr sz="2100" b="0">
                <a:solidFill>
                  <a:srgbClr val="AE562C"/>
                </a:solidFill>
                <a:latin typeface="Arial"/>
                <a:ea typeface="Arial"/>
                <a:cs typeface="Arial"/>
              </a:rPr>
              <a:t>Example: ADD COLUMN x INT → “x added, INT, nullable”; it is a structure event, not an UPDATE to every row.</a:t>
            </a:r>
          </a:p>
        </p:txBody>
      </p:sp>
    </p:spTree>
    <p:extLst>
      <p:ext uri="{BB962C8B-B14F-4D97-AF65-F5344CB8AC3E}">
        <p14:creationId xmlns:p14="http://schemas.microsoft.com/office/powerpoint/2010/main" val="575383856"/>
      </p:ext>
    </p:extLst>
  </p:cSld>
</p:sld>
</file>

<file path=ppt/slides/slide28.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41D6BF64-4994-431C-B6A3-EFBFB237EFEC}"/>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84847FD9-547D-4465-822B-56C45FD41BE1}"/>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CONTROL CENTER</a:t>
            </a:r>
          </a:p>
        </p:txBody>
      </p:sp>
      <p:sp>
        <p:nvSpPr>
          <p:cNvPr id="3" name="title">
            <a:extLst xmlns:a="http://schemas.openxmlformats.org/drawingml/2006/main">
              <a:ext uri="{FF2B5EF4-FFF2-40B4-BE49-F238E27FC236}">
                <a16:creationId xmlns:a16="http://schemas.microsoft.com/office/drawing/2014/main" id="{212F7881-BE08-4181-825D-A8C9C5DEBA6A}"/>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Operators control services without losing context</a:t>
            </a:r>
          </a:p>
        </p:txBody>
      </p:sp>
      <p:sp>
        <p:nvSpPr>
          <p:cNvPr id="4" name="subtitle">
            <a:extLst xmlns:a="http://schemas.openxmlformats.org/drawingml/2006/main">
              <a:ext uri="{FF2B5EF4-FFF2-40B4-BE49-F238E27FC236}">
                <a16:creationId xmlns:a16="http://schemas.microsoft.com/office/drawing/2014/main" id="{EFF92FA2-D650-4CF0-A5EA-C6D3AA98F4C3}"/>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Source task and writer health are checked separately; a default-image difference is informational.</a:t>
            </a:r>
          </a:p>
        </p:txBody>
      </p:sp>
      <p:sp>
        <p:nvSpPr>
          <p:cNvPr id="5" name="brand-rule-72-831">
            <a:extLst xmlns:a="http://schemas.openxmlformats.org/drawingml/2006/main">
              <a:ext uri="{FF2B5EF4-FFF2-40B4-BE49-F238E27FC236}">
                <a16:creationId xmlns:a16="http://schemas.microsoft.com/office/drawing/2014/main" id="{0B1C3795-00B6-4AB4-9CC3-108BE12FA8AF}"/>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6C156BC-E9F3-47D0-A31A-9E03DFD13EE8}"/>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A1F6F1BA-4143-4AD4-9085-B36953BD973D}"/>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28</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d56eff0b799427b"/>
          <a:stretch xmlns:a="http://schemas.openxmlformats.org/drawingml/2006/main"/>
        </p:blipFill>
        <p:spPr>
          <a:xfrm xmlns:a="http://schemas.openxmlformats.org/drawingml/2006/main">
            <a:off x="2256032" y="3014956"/>
            <a:ext cx="6765536" cy="3876088"/>
          </a:xfrm>
          <a:prstGeom xmlns:a="http://schemas.openxmlformats.org/drawingml/2006/main" prst="rect">
            <a:avLst/>
          </a:prstGeom>
        </p:spPr>
      </p:pic>
      <p:sp>
        <p:nvSpPr>
          <p:cNvPr id="9" name="label-OPERATE SAFELY">
            <a:extLst xmlns:a="http://schemas.openxmlformats.org/drawingml/2006/main">
              <a:ext uri="{FF2B5EF4-FFF2-40B4-BE49-F238E27FC236}">
                <a16:creationId xmlns:a16="http://schemas.microsoft.com/office/drawing/2014/main" id="{156E8803-0687-4A35-88E0-13174DD2CEFF}"/>
              </a:ext>
            </a:extLst>
          </p:cNvPr>
          <p:cNvSpPr>
            <a:spLocks xmlns:a="http://schemas.openxmlformats.org/drawingml/2006/main" noGrp="1"/>
          </p:cNvSpPr>
          <p:nvPr/>
        </p:nvSpPr>
        <p:spPr>
          <a:xfrm xmlns:a="http://schemas.openxmlformats.org/drawingml/2006/main">
            <a:off x="11144250" y="2524125"/>
            <a:ext cx="3409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OPERATE SAFELY</a:t>
            </a:r>
          </a:p>
        </p:txBody>
      </p:sp>
      <p:sp>
        <p:nvSpPr>
          <p:cNvPr id="10" name="bullet-0">
            <a:extLst xmlns:a="http://schemas.openxmlformats.org/drawingml/2006/main">
              <a:ext uri="{FF2B5EF4-FFF2-40B4-BE49-F238E27FC236}">
                <a16:creationId xmlns:a16="http://schemas.microsoft.com/office/drawing/2014/main" id="{65283314-859B-4FD7-917A-9E1F70B472DA}"/>
              </a:ext>
            </a:extLst>
          </p:cNvPr>
          <p:cNvSpPr>
            <a:spLocks xmlns:a="http://schemas.openxmlformats.org/drawingml/2006/main" noGrp="1"/>
          </p:cNvSpPr>
          <p:nvPr/>
        </p:nvSpPr>
        <p:spPr>
          <a:xfrm xmlns:a="http://schemas.openxmlformats.org/drawingml/2006/main">
            <a:off x="11144250" y="32385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4D8C52FC-8C8E-44B6-995C-29AC7A743789}"/>
              </a:ext>
            </a:extLst>
          </p:cNvPr>
          <p:cNvSpPr>
            <a:spLocks xmlns:a="http://schemas.openxmlformats.org/drawingml/2006/main" noGrp="1"/>
          </p:cNvSpPr>
          <p:nvPr/>
        </p:nvSpPr>
        <p:spPr>
          <a:xfrm xmlns:a="http://schemas.openxmlformats.org/drawingml/2006/main">
            <a:off x="11468100" y="3238500"/>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312D2A"/>
                </a:solidFill>
                <a:latin typeface="Arial"/>
                <a:ea typeface="Arial"/>
                <a:cs typeface="Arial"/>
              </a:defRPr>
            </a:pPr>
            <a:r>
              <a:rPr sz="2175" b="0">
                <a:solidFill>
                  <a:srgbClr val="312D2A"/>
                </a:solidFill>
                <a:latin typeface="Arial"/>
                <a:ea typeface="Arial"/>
                <a:cs typeface="Arial"/>
              </a:rPr>
              <a:t>Run both workloads on OCI Container Instances.</a:t>
            </a:r>
          </a:p>
        </p:txBody>
      </p:sp>
      <p:sp>
        <p:nvSpPr>
          <p:cNvPr id="12" name="bullet-1">
            <a:extLst xmlns:a="http://schemas.openxmlformats.org/drawingml/2006/main">
              <a:ext uri="{FF2B5EF4-FFF2-40B4-BE49-F238E27FC236}">
                <a16:creationId xmlns:a16="http://schemas.microsoft.com/office/drawing/2014/main" id="{FA848CEB-8658-48E9-8047-204041A33FC5}"/>
              </a:ext>
            </a:extLst>
          </p:cNvPr>
          <p:cNvSpPr>
            <a:spLocks xmlns:a="http://schemas.openxmlformats.org/drawingml/2006/main" noGrp="1"/>
          </p:cNvSpPr>
          <p:nvPr/>
        </p:nvSpPr>
        <p:spPr>
          <a:xfrm xmlns:a="http://schemas.openxmlformats.org/drawingml/2006/main">
            <a:off x="11144250" y="43053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ACF8ADFB-79E0-46CE-9FD9-E4CEC970BC9F}"/>
              </a:ext>
            </a:extLst>
          </p:cNvPr>
          <p:cNvSpPr>
            <a:spLocks xmlns:a="http://schemas.openxmlformats.org/drawingml/2006/main" noGrp="1"/>
          </p:cNvSpPr>
          <p:nvPr/>
        </p:nvSpPr>
        <p:spPr>
          <a:xfrm xmlns:a="http://schemas.openxmlformats.org/drawingml/2006/main">
            <a:off x="11468100" y="4305300"/>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a:solidFill>
                  <a:srgbClr val="312D2A"/>
                </a:solidFill>
                <a:latin typeface="Arial"/>
                <a:ea typeface="Arial"/>
                <a:cs typeface="Arial"/>
              </a:rPr>
              <a:t>Apply saved stream limits and pacing.</a:t>
            </a:r>
          </a:p>
        </p:txBody>
      </p:sp>
      <p:sp>
        <p:nvSpPr>
          <p:cNvPr id="14" name="bullet-2">
            <a:extLst xmlns:a="http://schemas.openxmlformats.org/drawingml/2006/main">
              <a:ext uri="{FF2B5EF4-FFF2-40B4-BE49-F238E27FC236}">
                <a16:creationId xmlns:a16="http://schemas.microsoft.com/office/drawing/2014/main" id="{4D28F5D7-BAA4-4867-B429-AACB3C74F4CD}"/>
              </a:ext>
            </a:extLst>
          </p:cNvPr>
          <p:cNvSpPr>
            <a:spLocks xmlns:a="http://schemas.openxmlformats.org/drawingml/2006/main" noGrp="1"/>
          </p:cNvSpPr>
          <p:nvPr/>
        </p:nvSpPr>
        <p:spPr>
          <a:xfrm xmlns:a="http://schemas.openxmlformats.org/drawingml/2006/main">
            <a:off x="11144250" y="53721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82981213-E47D-4068-87A5-1B9834298DA5}"/>
              </a:ext>
            </a:extLst>
          </p:cNvPr>
          <p:cNvSpPr>
            <a:spLocks xmlns:a="http://schemas.openxmlformats.org/drawingml/2006/main" noGrp="1"/>
          </p:cNvSpPr>
          <p:nvPr/>
        </p:nvSpPr>
        <p:spPr>
          <a:xfrm xmlns:a="http://schemas.openxmlformats.org/drawingml/2006/main">
            <a:off x="11468100" y="5372100"/>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a:solidFill>
                  <a:srgbClr val="312D2A"/>
                </a:solidFill>
                <a:latin typeface="Arial"/>
                <a:ea typeface="Arial"/>
                <a:cs typeface="Arial"/>
              </a:rPr>
              <a:t>Retain offsets, schema history and fragment custody.</a:t>
            </a:r>
          </a:p>
        </p:txBody>
      </p:sp>
      <p:sp>
        <p:nvSpPr>
          <p:cNvPr id="16" name="bullet-3">
            <a:extLst xmlns:a="http://schemas.openxmlformats.org/drawingml/2006/main">
              <a:ext uri="{FF2B5EF4-FFF2-40B4-BE49-F238E27FC236}">
                <a16:creationId xmlns:a16="http://schemas.microsoft.com/office/drawing/2014/main" id="{9A96A616-689B-4A5C-BE1E-CE981D7AE499}"/>
              </a:ext>
            </a:extLst>
          </p:cNvPr>
          <p:cNvSpPr>
            <a:spLocks xmlns:a="http://schemas.openxmlformats.org/drawingml/2006/main" noGrp="1"/>
          </p:cNvSpPr>
          <p:nvPr/>
        </p:nvSpPr>
        <p:spPr>
          <a:xfrm xmlns:a="http://schemas.openxmlformats.org/drawingml/2006/main">
            <a:off x="11144250" y="64389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75" b="0">
                <a:solidFill>
                  <a:srgbClr val="C74634"/>
                </a:solidFill>
                <a:latin typeface="Arial"/>
                <a:ea typeface="Arial"/>
                <a:cs typeface="Arial"/>
              </a:defRPr>
            </a:pPr>
            <a:r>
              <a:rPr sz="2175" b="0">
                <a:solidFill>
                  <a:srgbClr val="C74634"/>
                </a:solidFill>
                <a:latin typeface="Arial"/>
                <a:ea typeface="Arial"/>
                <a:cs typeface="Arial"/>
              </a:rPr>
              <a:t>•</a:t>
            </a:r>
          </a:p>
        </p:txBody>
      </p:sp>
      <p:sp>
        <p:nvSpPr>
          <p:cNvPr id="17" name="body-3">
            <a:extLst xmlns:a="http://schemas.openxmlformats.org/drawingml/2006/main">
              <a:ext uri="{FF2B5EF4-FFF2-40B4-BE49-F238E27FC236}">
                <a16:creationId xmlns:a16="http://schemas.microsoft.com/office/drawing/2014/main" id="{67315E1E-140B-4525-BA2A-42B63C529127}"/>
              </a:ext>
            </a:extLst>
          </p:cNvPr>
          <p:cNvSpPr>
            <a:spLocks xmlns:a="http://schemas.openxmlformats.org/drawingml/2006/main" noGrp="1"/>
          </p:cNvSpPr>
          <p:nvPr/>
        </p:nvSpPr>
        <p:spPr>
          <a:xfrm xmlns:a="http://schemas.openxmlformats.org/drawingml/2006/main">
            <a:off x="11468100" y="6438900"/>
            <a:ext cx="30861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75">
                <a:solidFill>
                  <a:srgbClr val="312D2A"/>
                </a:solidFill>
                <a:latin typeface="Arial"/>
                <a:ea typeface="Arial"/>
                <a:cs typeface="Arial"/>
              </a:rPr>
              <a:t>Update the writer before oversized-message capture.</a:t>
            </a:r>
          </a:p>
        </p:txBody>
      </p:sp>
    </p:spTree>
    <p:extLst>
      <p:ext uri="{BB962C8B-B14F-4D97-AF65-F5344CB8AC3E}">
        <p14:creationId xmlns:p14="http://schemas.microsoft.com/office/powerpoint/2010/main" val="1506610439"/>
      </p:ext>
    </p:extLst>
  </p:cSld>
</p:sld>
</file>

<file path=ppt/slides/slide29.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3139D2E5-F2D4-46B0-9E0D-77CF6A7B4A07}"/>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ADAF0E34-3F38-493A-8ECB-2ACF4778285A}"/>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CONFIGURATION AND SETUP</a:t>
            </a:r>
          </a:p>
        </p:txBody>
      </p:sp>
      <p:sp>
        <p:nvSpPr>
          <p:cNvPr id="3" name="title">
            <a:extLst xmlns:a="http://schemas.openxmlformats.org/drawingml/2006/main">
              <a:ext uri="{FF2B5EF4-FFF2-40B4-BE49-F238E27FC236}">
                <a16:creationId xmlns:a16="http://schemas.microsoft.com/office/drawing/2014/main" id="{E01C6885-C31A-4077-82B7-93CA3CD4DC39}"/>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Provision services inside the VM compartment</a:t>
            </a:r>
          </a:p>
        </p:txBody>
      </p:sp>
      <p:sp>
        <p:nvSpPr>
          <p:cNvPr id="4" name="subtitle">
            <a:extLst xmlns:a="http://schemas.openxmlformats.org/drawingml/2006/main">
              <a:ext uri="{FF2B5EF4-FFF2-40B4-BE49-F238E27FC236}">
                <a16:creationId xmlns:a16="http://schemas.microsoft.com/office/drawing/2014/main" id="{2F19FB80-F7CE-411C-9527-215FB0D32CF9}"/>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875">
                <a:solidFill>
                  <a:srgbClr val="6F6861"/>
                </a:solidFill>
                <a:latin typeface="Arial"/>
                <a:ea typeface="Arial"/>
                <a:cs typeface="Arial"/>
              </a:rPr>
              <a:t>Native OCI Streaming, private container workloads, Registry and Vault use compartment-scoped controls.</a:t>
            </a:r>
          </a:p>
        </p:txBody>
      </p:sp>
      <p:sp>
        <p:nvSpPr>
          <p:cNvPr id="5" name="brand-rule-72-831">
            <a:extLst xmlns:a="http://schemas.openxmlformats.org/drawingml/2006/main">
              <a:ext uri="{FF2B5EF4-FFF2-40B4-BE49-F238E27FC236}">
                <a16:creationId xmlns:a16="http://schemas.microsoft.com/office/drawing/2014/main" id="{AD68BC40-E119-496C-90EC-0C4B2C44F11D}"/>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3E12C4BF-75F2-46AB-81D7-EB3DD59F6C2B}"/>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067D59F3-B54A-41E7-AF79-CFB94D1F9104}"/>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29</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5a0bcea785e54196"/>
          <a:stretch xmlns:a="http://schemas.openxmlformats.org/drawingml/2006/main"/>
        </p:blipFill>
        <p:spPr>
          <a:xfrm xmlns:a="http://schemas.openxmlformats.org/drawingml/2006/main">
            <a:off x="2487901" y="3077876"/>
            <a:ext cx="5158798" cy="3940748"/>
          </a:xfrm>
          <a:prstGeom xmlns:a="http://schemas.openxmlformats.org/drawingml/2006/main" prst="rect">
            <a:avLst/>
          </a:prstGeom>
        </p:spPr>
      </p:pic>
      <p:sp>
        <p:nvSpPr>
          <p:cNvPr id="9" name="label-SCOPE AND LIFECYCLE">
            <a:extLst xmlns:a="http://schemas.openxmlformats.org/drawingml/2006/main">
              <a:ext uri="{FF2B5EF4-FFF2-40B4-BE49-F238E27FC236}">
                <a16:creationId xmlns:a16="http://schemas.microsoft.com/office/drawing/2014/main" id="{300B59F1-D07F-422D-9B63-A6118E204CC4}"/>
              </a:ext>
            </a:extLst>
          </p:cNvPr>
          <p:cNvSpPr>
            <a:spLocks xmlns:a="http://schemas.openxmlformats.org/drawingml/2006/main" noGrp="1"/>
          </p:cNvSpPr>
          <p:nvPr/>
        </p:nvSpPr>
        <p:spPr>
          <a:xfrm xmlns:a="http://schemas.openxmlformats.org/drawingml/2006/main">
            <a:off x="9925050" y="2571750"/>
            <a:ext cx="462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SCOPE AND LIFECYCLE</a:t>
            </a:r>
          </a:p>
        </p:txBody>
      </p:sp>
      <p:sp>
        <p:nvSpPr>
          <p:cNvPr id="10" name="bullet-0">
            <a:extLst xmlns:a="http://schemas.openxmlformats.org/drawingml/2006/main">
              <a:ext uri="{FF2B5EF4-FFF2-40B4-BE49-F238E27FC236}">
                <a16:creationId xmlns:a16="http://schemas.microsoft.com/office/drawing/2014/main" id="{F0D1577A-2316-47EA-B3CB-3ED253BD3639}"/>
              </a:ext>
            </a:extLst>
          </p:cNvPr>
          <p:cNvSpPr>
            <a:spLocks xmlns:a="http://schemas.openxmlformats.org/drawingml/2006/main" noGrp="1"/>
          </p:cNvSpPr>
          <p:nvPr/>
        </p:nvSpPr>
        <p:spPr>
          <a:xfrm xmlns:a="http://schemas.openxmlformats.org/drawingml/2006/main">
            <a:off x="99250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24FB69D9-29D6-494B-B01E-9B7027A1B454}"/>
              </a:ext>
            </a:extLst>
          </p:cNvPr>
          <p:cNvSpPr>
            <a:spLocks xmlns:a="http://schemas.openxmlformats.org/drawingml/2006/main" noGrp="1"/>
          </p:cNvSpPr>
          <p:nvPr/>
        </p:nvSpPr>
        <p:spPr>
          <a:xfrm xmlns:a="http://schemas.openxmlformats.org/drawingml/2006/main">
            <a:off x="10248900" y="333375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12D2A"/>
                </a:solidFill>
                <a:latin typeface="Arial"/>
                <a:ea typeface="Arial"/>
                <a:cs typeface="Arial"/>
              </a:defRPr>
            </a:pPr>
            <a:r>
              <a:rPr sz="2100" b="0">
                <a:solidFill>
                  <a:srgbClr val="312D2A"/>
                </a:solidFill>
                <a:latin typeface="Arial"/>
                <a:ea typeface="Arial"/>
                <a:cs typeface="Arial"/>
              </a:rPr>
              <a:t>One permitted compartment: the VM’s own.</a:t>
            </a:r>
          </a:p>
        </p:txBody>
      </p:sp>
      <p:sp>
        <p:nvSpPr>
          <p:cNvPr id="12" name="bullet-1">
            <a:extLst xmlns:a="http://schemas.openxmlformats.org/drawingml/2006/main">
              <a:ext uri="{FF2B5EF4-FFF2-40B4-BE49-F238E27FC236}">
                <a16:creationId xmlns:a16="http://schemas.microsoft.com/office/drawing/2014/main" id="{2DA27037-574A-4FF8-94FC-503B87B0FFAC}"/>
              </a:ext>
            </a:extLst>
          </p:cNvPr>
          <p:cNvSpPr>
            <a:spLocks xmlns:a="http://schemas.openxmlformats.org/drawingml/2006/main" noGrp="1"/>
          </p:cNvSpPr>
          <p:nvPr/>
        </p:nvSpPr>
        <p:spPr>
          <a:xfrm xmlns:a="http://schemas.openxmlformats.org/drawingml/2006/main">
            <a:off x="9925050" y="46863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944A2A30-E90A-4F62-AA5C-497C451D87A6}"/>
              </a:ext>
            </a:extLst>
          </p:cNvPr>
          <p:cNvSpPr>
            <a:spLocks xmlns:a="http://schemas.openxmlformats.org/drawingml/2006/main" noGrp="1"/>
          </p:cNvSpPr>
          <p:nvPr/>
        </p:nvSpPr>
        <p:spPr>
          <a:xfrm xmlns:a="http://schemas.openxmlformats.org/drawingml/2006/main">
            <a:off x="10248900" y="468630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12D2A"/>
                </a:solidFill>
                <a:latin typeface="Arial"/>
                <a:ea typeface="Arial"/>
                <a:cs typeface="Arial"/>
              </a:defRPr>
            </a:pPr>
            <a:r>
              <a:rPr sz="2100" b="0">
                <a:solidFill>
                  <a:srgbClr val="312D2A"/>
                </a:solidFill>
                <a:latin typeface="Arial"/>
                <a:ea typeface="Arial"/>
                <a:cs typeface="Arial"/>
              </a:rPr>
              <a:t>Verify attached resources before every mutation.</a:t>
            </a:r>
          </a:p>
        </p:txBody>
      </p:sp>
      <p:sp>
        <p:nvSpPr>
          <p:cNvPr id="14" name="bullet-2">
            <a:extLst xmlns:a="http://schemas.openxmlformats.org/drawingml/2006/main">
              <a:ext uri="{FF2B5EF4-FFF2-40B4-BE49-F238E27FC236}">
                <a16:creationId xmlns:a16="http://schemas.microsoft.com/office/drawing/2014/main" id="{32723BFD-C2D7-4EBE-8ECD-FCEF7B3AE9FD}"/>
              </a:ext>
            </a:extLst>
          </p:cNvPr>
          <p:cNvSpPr>
            <a:spLocks xmlns:a="http://schemas.openxmlformats.org/drawingml/2006/main" noGrp="1"/>
          </p:cNvSpPr>
          <p:nvPr/>
        </p:nvSpPr>
        <p:spPr>
          <a:xfrm xmlns:a="http://schemas.openxmlformats.org/drawingml/2006/main">
            <a:off x="9925050" y="60388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0FE0E1EA-D308-496B-8DD3-7917EEE52E9D}"/>
              </a:ext>
            </a:extLst>
          </p:cNvPr>
          <p:cNvSpPr>
            <a:spLocks xmlns:a="http://schemas.openxmlformats.org/drawingml/2006/main" noGrp="1"/>
          </p:cNvSpPr>
          <p:nvPr/>
        </p:nvSpPr>
        <p:spPr>
          <a:xfrm xmlns:a="http://schemas.openxmlformats.org/drawingml/2006/main">
            <a:off x="10248900" y="603885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312D2A"/>
                </a:solidFill>
                <a:latin typeface="Arial"/>
                <a:ea typeface="Arial"/>
                <a:cs typeface="Arial"/>
              </a:defRPr>
            </a:pPr>
            <a:r>
              <a:rPr sz="2100" b="0">
                <a:solidFill>
                  <a:srgbClr val="312D2A"/>
                </a:solidFill>
                <a:latin typeface="Arial"/>
                <a:ea typeface="Arial"/>
                <a:cs typeface="Arial"/>
              </a:rPr>
              <a:t>Create from structured forms; delete unused app-owned resources.</a:t>
            </a:r>
          </a:p>
        </p:txBody>
      </p:sp>
    </p:spTree>
    <p:extLst>
      <p:ext uri="{BB962C8B-B14F-4D97-AF65-F5344CB8AC3E}">
        <p14:creationId xmlns:p14="http://schemas.microsoft.com/office/powerpoint/2010/main" val="1383300913"/>
      </p:ext>
    </p:extLst>
  </p:cSld>
</p:sld>
</file>

<file path=ppt/slides/slide30.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41DCC2C3-87A0-428A-984F-12970AFA056D}"/>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4EC596EB-8EE9-428A-A487-B565CB7DFBA8}"/>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REGISTER A SOURCE SCOPE</a:t>
            </a:r>
          </a:p>
        </p:txBody>
      </p:sp>
      <p:sp>
        <p:nvSpPr>
          <p:cNvPr id="3" name="title">
            <a:extLst xmlns:a="http://schemas.openxmlformats.org/drawingml/2006/main">
              <a:ext uri="{FF2B5EF4-FFF2-40B4-BE49-F238E27FC236}">
                <a16:creationId xmlns:a16="http://schemas.microsoft.com/office/drawing/2014/main" id="{139BA982-1901-4EDA-AD1A-9189F24D3000}"/>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Select scope, native stream and target layout</a:t>
            </a:r>
          </a:p>
        </p:txBody>
      </p:sp>
      <p:sp>
        <p:nvSpPr>
          <p:cNvPr id="4" name="subtitle">
            <a:extLst xmlns:a="http://schemas.openxmlformats.org/drawingml/2006/main">
              <a:ext uri="{FF2B5EF4-FFF2-40B4-BE49-F238E27FC236}">
                <a16:creationId xmlns:a16="http://schemas.microsoft.com/office/drawing/2014/main" id="{D0D161F7-1257-45A8-BF2D-E25928A7B661}"/>
              </a:ext>
            </a:extLst>
          </p:cNvPr>
          <p:cNvSpPr>
            <a:spLocks xmlns:a="http://schemas.openxmlformats.org/drawingml/2006/main" noGrp="1"/>
          </p:cNvSpPr>
          <p:nvPr/>
        </p:nvSpPr>
        <p:spPr>
          <a:xfrm xmlns:a="http://schemas.openxmlformats.org/drawingml/2006/main">
            <a:off x="685800" y="1714500"/>
            <a:ext cx="13868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875" b="0">
                <a:solidFill>
                  <a:srgbClr val="6F6861"/>
                </a:solidFill>
                <a:latin typeface="Arial"/>
                <a:ea typeface="Arial"/>
                <a:cs typeface="Arial"/>
              </a:defRPr>
            </a:pPr>
            <a:r>
              <a:rPr sz="1875" b="0">
                <a:solidFill>
                  <a:srgbClr val="6F6861"/>
                </a:solidFill>
                <a:latin typeface="Arial"/>
                <a:ea typeface="Arial"/>
                <a:cs typeface="Arial"/>
              </a:rPr>
              <a:t>The application connects to each registered database and loads accessible objects.</a:t>
            </a:r>
          </a:p>
        </p:txBody>
      </p:sp>
      <p:sp>
        <p:nvSpPr>
          <p:cNvPr id="5" name="brand-rule-72-831">
            <a:extLst xmlns:a="http://schemas.openxmlformats.org/drawingml/2006/main">
              <a:ext uri="{FF2B5EF4-FFF2-40B4-BE49-F238E27FC236}">
                <a16:creationId xmlns:a16="http://schemas.microsoft.com/office/drawing/2014/main" id="{0134CFE3-069E-42B4-9FD6-0B4BF6103DBF}"/>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36CA03C-B20C-4067-92B6-D37875D9489B}"/>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7" name="page">
            <a:extLst xmlns:a="http://schemas.openxmlformats.org/drawingml/2006/main">
              <a:ext uri="{FF2B5EF4-FFF2-40B4-BE49-F238E27FC236}">
                <a16:creationId xmlns:a16="http://schemas.microsoft.com/office/drawing/2014/main" id="{D5BF6D03-FF69-4971-9797-3AEAC9C55F11}"/>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30</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ecd6d37684a748bb"/>
          <a:stretch xmlns:a="http://schemas.openxmlformats.org/drawingml/2006/main"/>
        </p:blipFill>
        <p:spPr>
          <a:xfrm xmlns:a="http://schemas.openxmlformats.org/drawingml/2006/main">
            <a:off x="3339803" y="2438400"/>
            <a:ext cx="3454995" cy="5219700"/>
          </a:xfrm>
          <a:prstGeom xmlns:a="http://schemas.openxmlformats.org/drawingml/2006/main" prst="rect">
            <a:avLst/>
          </a:prstGeom>
        </p:spPr>
      </p:pic>
      <p:sp>
        <p:nvSpPr>
          <p:cNvPr id="9" name="label-MAPPING CONTRACT">
            <a:extLst xmlns:a="http://schemas.openxmlformats.org/drawingml/2006/main">
              <a:ext uri="{FF2B5EF4-FFF2-40B4-BE49-F238E27FC236}">
                <a16:creationId xmlns:a16="http://schemas.microsoft.com/office/drawing/2014/main" id="{2ABE75BA-2959-4A7E-9CAD-CF577930A8F1}"/>
              </a:ext>
            </a:extLst>
          </p:cNvPr>
          <p:cNvSpPr>
            <a:spLocks xmlns:a="http://schemas.openxmlformats.org/drawingml/2006/main" noGrp="1"/>
          </p:cNvSpPr>
          <p:nvPr/>
        </p:nvSpPr>
        <p:spPr>
          <a:xfrm xmlns:a="http://schemas.openxmlformats.org/drawingml/2006/main">
            <a:off x="9925050" y="2571750"/>
            <a:ext cx="4629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400" b="1">
                <a:solidFill>
                  <a:srgbClr val="AE562C"/>
                </a:solidFill>
                <a:latin typeface="Arial"/>
                <a:ea typeface="Arial"/>
                <a:cs typeface="Arial"/>
              </a:defRPr>
            </a:pPr>
            <a:r>
              <a:rPr sz="2400" b="1">
                <a:solidFill>
                  <a:srgbClr val="AE562C"/>
                </a:solidFill>
                <a:latin typeface="Arial"/>
                <a:ea typeface="Arial"/>
                <a:cs typeface="Arial"/>
              </a:rPr>
              <a:t>MAPPING CONTRACT</a:t>
            </a:r>
          </a:p>
        </p:txBody>
      </p:sp>
      <p:sp>
        <p:nvSpPr>
          <p:cNvPr id="10" name="bullet-0">
            <a:extLst xmlns:a="http://schemas.openxmlformats.org/drawingml/2006/main">
              <a:ext uri="{FF2B5EF4-FFF2-40B4-BE49-F238E27FC236}">
                <a16:creationId xmlns:a16="http://schemas.microsoft.com/office/drawing/2014/main" id="{5C813DCE-4EC4-4C80-B8D7-47436856AC83}"/>
              </a:ext>
            </a:extLst>
          </p:cNvPr>
          <p:cNvSpPr>
            <a:spLocks xmlns:a="http://schemas.openxmlformats.org/drawingml/2006/main" noGrp="1"/>
          </p:cNvSpPr>
          <p:nvPr/>
        </p:nvSpPr>
        <p:spPr>
          <a:xfrm xmlns:a="http://schemas.openxmlformats.org/drawingml/2006/main">
            <a:off x="99250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1" name="body-0">
            <a:extLst xmlns:a="http://schemas.openxmlformats.org/drawingml/2006/main">
              <a:ext uri="{FF2B5EF4-FFF2-40B4-BE49-F238E27FC236}">
                <a16:creationId xmlns:a16="http://schemas.microsoft.com/office/drawing/2014/main" id="{4235A3C7-EC4E-4AA9-A6B6-1A0C6D977286}"/>
              </a:ext>
            </a:extLst>
          </p:cNvPr>
          <p:cNvSpPr>
            <a:spLocks xmlns:a="http://schemas.openxmlformats.org/drawingml/2006/main" noGrp="1"/>
          </p:cNvSpPr>
          <p:nvPr/>
        </p:nvSpPr>
        <p:spPr>
          <a:xfrm xmlns:a="http://schemas.openxmlformats.org/drawingml/2006/main">
            <a:off x="10248900" y="333375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00">
                <a:solidFill>
                  <a:srgbClr val="312D2A"/>
                </a:solidFill>
                <a:latin typeface="Arial"/>
                <a:ea typeface="Arial"/>
                <a:cs typeface="Arial"/>
              </a:rPr>
              <a:t>Choose one table, database.* or *.* with stable keys.</a:t>
            </a:r>
          </a:p>
        </p:txBody>
      </p:sp>
      <p:sp>
        <p:nvSpPr>
          <p:cNvPr id="12" name="bullet-1">
            <a:extLst xmlns:a="http://schemas.openxmlformats.org/drawingml/2006/main">
              <a:ext uri="{FF2B5EF4-FFF2-40B4-BE49-F238E27FC236}">
                <a16:creationId xmlns:a16="http://schemas.microsoft.com/office/drawing/2014/main" id="{D5D0F5FB-EF99-4265-8ADD-05D91F0826CC}"/>
              </a:ext>
            </a:extLst>
          </p:cNvPr>
          <p:cNvSpPr>
            <a:spLocks xmlns:a="http://schemas.openxmlformats.org/drawingml/2006/main" noGrp="1"/>
          </p:cNvSpPr>
          <p:nvPr/>
        </p:nvSpPr>
        <p:spPr>
          <a:xfrm xmlns:a="http://schemas.openxmlformats.org/drawingml/2006/main">
            <a:off x="9925050" y="46863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3" name="body-1">
            <a:extLst xmlns:a="http://schemas.openxmlformats.org/drawingml/2006/main">
              <a:ext uri="{FF2B5EF4-FFF2-40B4-BE49-F238E27FC236}">
                <a16:creationId xmlns:a16="http://schemas.microsoft.com/office/drawing/2014/main" id="{D2CA5020-DE51-4816-880F-513897D2AFF8}"/>
              </a:ext>
            </a:extLst>
          </p:cNvPr>
          <p:cNvSpPr>
            <a:spLocks xmlns:a="http://schemas.openxmlformats.org/drawingml/2006/main" noGrp="1"/>
          </p:cNvSpPr>
          <p:nvPr/>
        </p:nvSpPr>
        <p:spPr>
          <a:xfrm xmlns:a="http://schemas.openxmlformats.org/drawingml/2006/main">
            <a:off x="10248900" y="468630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00">
                <a:solidFill>
                  <a:srgbClr val="312D2A"/>
                </a:solidFill>
                <a:latin typeface="Arial"/>
                <a:ea typeface="Arial"/>
                <a:cs typeface="Arial"/>
              </a:rPr>
              <a:t>Select the pool connection and prepared data stream.</a:t>
            </a:r>
          </a:p>
        </p:txBody>
      </p:sp>
      <p:sp>
        <p:nvSpPr>
          <p:cNvPr id="14" name="bullet-2">
            <a:extLst xmlns:a="http://schemas.openxmlformats.org/drawingml/2006/main">
              <a:ext uri="{FF2B5EF4-FFF2-40B4-BE49-F238E27FC236}">
                <a16:creationId xmlns:a16="http://schemas.microsoft.com/office/drawing/2014/main" id="{79485793-A1D1-4200-8F96-CD9B4EBB3DA5}"/>
              </a:ext>
            </a:extLst>
          </p:cNvPr>
          <p:cNvSpPr>
            <a:spLocks xmlns:a="http://schemas.openxmlformats.org/drawingml/2006/main" noGrp="1"/>
          </p:cNvSpPr>
          <p:nvPr/>
        </p:nvSpPr>
        <p:spPr>
          <a:xfrm xmlns:a="http://schemas.openxmlformats.org/drawingml/2006/main">
            <a:off x="9925050" y="60388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100" b="0">
                <a:solidFill>
                  <a:srgbClr val="C74634"/>
                </a:solidFill>
                <a:latin typeface="Arial"/>
                <a:ea typeface="Arial"/>
                <a:cs typeface="Arial"/>
              </a:defRPr>
            </a:pPr>
            <a:r>
              <a:rPr sz="2100" b="0">
                <a:solidFill>
                  <a:srgbClr val="C74634"/>
                </a:solidFill>
                <a:latin typeface="Arial"/>
                <a:ea typeface="Arial"/>
                <a:cs typeface="Arial"/>
              </a:rPr>
              <a:t>•</a:t>
            </a:r>
          </a:p>
        </p:txBody>
      </p:sp>
      <p:sp>
        <p:nvSpPr>
          <p:cNvPr id="15" name="body-2">
            <a:extLst xmlns:a="http://schemas.openxmlformats.org/drawingml/2006/main">
              <a:ext uri="{FF2B5EF4-FFF2-40B4-BE49-F238E27FC236}">
                <a16:creationId xmlns:a16="http://schemas.microsoft.com/office/drawing/2014/main" id="{941D3079-5E91-4B47-9F07-9F162A76AD43}"/>
              </a:ext>
            </a:extLst>
          </p:cNvPr>
          <p:cNvSpPr>
            <a:spLocks xmlns:a="http://schemas.openxmlformats.org/drawingml/2006/main" noGrp="1"/>
          </p:cNvSpPr>
          <p:nvPr/>
        </p:nvSpPr>
        <p:spPr>
          <a:xfrm xmlns:a="http://schemas.openxmlformats.org/drawingml/2006/main">
            <a:off x="10248900" y="6038850"/>
            <a:ext cx="43053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100">
                <a:solidFill>
                  <a:srgbClr val="312D2A"/>
                </a:solidFill>
                <a:latin typeface="Arial"/>
                <a:ea typeface="Arial"/>
                <a:cs typeface="Arial"/>
              </a:rPr>
              <a:t>Choose grouping plus End, Start or Specific GTID.</a:t>
            </a:r>
          </a:p>
        </p:txBody>
      </p:sp>
    </p:spTree>
    <p:extLst>
      <p:ext uri="{BB962C8B-B14F-4D97-AF65-F5344CB8AC3E}">
        <p14:creationId xmlns:p14="http://schemas.microsoft.com/office/powerpoint/2010/main" val="487319881"/>
      </p:ext>
    </p:extLst>
  </p:cSld>
</p:sld>
</file>

<file path=ppt/slides/slide31.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A5C55C3B-6E54-472B-A0A1-87D76E904B9E}"/>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1D39D3C4-09D1-45B0-B287-36E2E649E7A0}"/>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50" b="1">
                <a:solidFill>
                  <a:srgbClr val="6F6861"/>
                </a:solidFill>
                <a:latin typeface="Arial"/>
                <a:ea typeface="Arial"/>
                <a:cs typeface="Arial"/>
              </a:rPr>
              <a:t>VALIDATED BEHAVIOR AND LIMITS</a:t>
            </a:r>
          </a:p>
        </p:txBody>
      </p:sp>
      <p:sp>
        <p:nvSpPr>
          <p:cNvPr id="3" name="title">
            <a:extLst xmlns:a="http://schemas.openxmlformats.org/drawingml/2006/main">
              <a:ext uri="{FF2B5EF4-FFF2-40B4-BE49-F238E27FC236}">
                <a16:creationId xmlns:a16="http://schemas.microsoft.com/office/drawing/2014/main" id="{F894495B-8B6B-4F3F-B023-DB1505C1EC55}"/>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3600" b="1">
                <a:solidFill>
                  <a:srgbClr val="312D2A"/>
                </a:solidFill>
                <a:latin typeface="Arial"/>
                <a:ea typeface="Arial"/>
                <a:cs typeface="Arial"/>
              </a:rPr>
              <a:t>Retain explainable changes and recovery evidence</a:t>
            </a:r>
          </a:p>
        </p:txBody>
      </p:sp>
      <p:sp>
        <p:nvSpPr>
          <p:cNvPr id="4" name="brand-rule-72-831">
            <a:extLst xmlns:a="http://schemas.openxmlformats.org/drawingml/2006/main">
              <a:ext uri="{FF2B5EF4-FFF2-40B4-BE49-F238E27FC236}">
                <a16:creationId xmlns:a16="http://schemas.microsoft.com/office/drawing/2014/main" id="{7E39C118-A6F9-4C3A-B5F2-52F5C2EF93D9}"/>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C7232C39-7646-412E-8851-1A6A099922C6}"/>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3766D664-B9A5-49CF-BD89-CB280F57D03E}"/>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31</a:t>
            </a:r>
          </a:p>
        </p:txBody>
      </p:sp>
      <p:sp>
        <p:nvSpPr>
          <p:cNvPr id="7" name="label-AVAILABLE IN THE CURRENT BUILD">
            <a:extLst xmlns:a="http://schemas.openxmlformats.org/drawingml/2006/main">
              <a:ext uri="{FF2B5EF4-FFF2-40B4-BE49-F238E27FC236}">
                <a16:creationId xmlns:a16="http://schemas.microsoft.com/office/drawing/2014/main" id="{521E9281-A59F-4C3F-9F6C-C0B344F85ADB}"/>
              </a:ext>
            </a:extLst>
          </p:cNvPr>
          <p:cNvSpPr>
            <a:spLocks xmlns:a="http://schemas.openxmlformats.org/drawingml/2006/main" noGrp="1"/>
          </p:cNvSpPr>
          <p:nvPr/>
        </p:nvSpPr>
        <p:spPr>
          <a:xfrm xmlns:a="http://schemas.openxmlformats.org/drawingml/2006/main">
            <a:off x="685800" y="25717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486D58"/>
                </a:solidFill>
                <a:latin typeface="Arial"/>
                <a:ea typeface="Arial"/>
                <a:cs typeface="Arial"/>
              </a:rPr>
              <a:t>VALIDATED IN ISOLATED LIVE CHECKS</a:t>
            </a:r>
          </a:p>
        </p:txBody>
      </p:sp>
      <p:sp>
        <p:nvSpPr>
          <p:cNvPr id="8" name="bullet-0">
            <a:extLst xmlns:a="http://schemas.openxmlformats.org/drawingml/2006/main">
              <a:ext uri="{FF2B5EF4-FFF2-40B4-BE49-F238E27FC236}">
                <a16:creationId xmlns:a16="http://schemas.microsoft.com/office/drawing/2014/main" id="{9EE89DF2-4DD5-433D-BD8E-F499EB11FA06}"/>
              </a:ext>
            </a:extLst>
          </p:cNvPr>
          <p:cNvSpPr>
            <a:spLocks xmlns:a="http://schemas.openxmlformats.org/drawingml/2006/main" noGrp="1"/>
          </p:cNvSpPr>
          <p:nvPr/>
        </p:nvSpPr>
        <p:spPr>
          <a:xfrm xmlns:a="http://schemas.openxmlformats.org/drawingml/2006/main">
            <a:off x="68580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9" name="body-0">
            <a:extLst xmlns:a="http://schemas.openxmlformats.org/drawingml/2006/main">
              <a:ext uri="{FF2B5EF4-FFF2-40B4-BE49-F238E27FC236}">
                <a16:creationId xmlns:a16="http://schemas.microsoft.com/office/drawing/2014/main" id="{FB783CD4-699C-4718-9476-4199AEC48C55}"/>
              </a:ext>
            </a:extLst>
          </p:cNvPr>
          <p:cNvSpPr>
            <a:spLocks xmlns:a="http://schemas.openxmlformats.org/drawingml/2006/main" noGrp="1"/>
          </p:cNvSpPr>
          <p:nvPr/>
        </p:nvSpPr>
        <p:spPr>
          <a:xfrm xmlns:a="http://schemas.openxmlformats.org/drawingml/2006/main">
            <a:off x="1009650" y="3333750"/>
            <a:ext cx="62484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Native Streaming, GTID and wildcard capture.</a:t>
            </a:r>
          </a:p>
        </p:txBody>
      </p:sp>
      <p:sp>
        <p:nvSpPr>
          <p:cNvPr id="10" name="bullet-1">
            <a:extLst xmlns:a="http://schemas.openxmlformats.org/drawingml/2006/main">
              <a:ext uri="{FF2B5EF4-FFF2-40B4-BE49-F238E27FC236}">
                <a16:creationId xmlns:a16="http://schemas.microsoft.com/office/drawing/2014/main" id="{127AF486-2271-4AD6-B8DB-CCE0ECEDB400}"/>
              </a:ext>
            </a:extLst>
          </p:cNvPr>
          <p:cNvSpPr>
            <a:spLocks xmlns:a="http://schemas.openxmlformats.org/drawingml/2006/main" noGrp="1"/>
          </p:cNvSpPr>
          <p:nvPr/>
        </p:nvSpPr>
        <p:spPr>
          <a:xfrm xmlns:a="http://schemas.openxmlformats.org/drawingml/2006/main">
            <a:off x="685800" y="4572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1" name="body-1">
            <a:extLst xmlns:a="http://schemas.openxmlformats.org/drawingml/2006/main">
              <a:ext uri="{FF2B5EF4-FFF2-40B4-BE49-F238E27FC236}">
                <a16:creationId xmlns:a16="http://schemas.microsoft.com/office/drawing/2014/main" id="{4B059C30-C54F-434A-9A38-590DEE7DDA4C}"/>
              </a:ext>
            </a:extLst>
          </p:cNvPr>
          <p:cNvSpPr>
            <a:spLocks xmlns:a="http://schemas.openxmlformats.org/drawingml/2006/main" noGrp="1"/>
          </p:cNvSpPr>
          <p:nvPr/>
        </p:nvSpPr>
        <p:spPr>
          <a:xfrm xmlns:a="http://schemas.openxmlformats.org/drawingml/2006/main">
            <a:off x="1009650" y="4572000"/>
            <a:ext cx="62484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All three target layouts and exact large Unicode images.</a:t>
            </a:r>
          </a:p>
        </p:txBody>
      </p:sp>
      <p:sp>
        <p:nvSpPr>
          <p:cNvPr id="12" name="bullet-2">
            <a:extLst xmlns:a="http://schemas.openxmlformats.org/drawingml/2006/main">
              <a:ext uri="{FF2B5EF4-FFF2-40B4-BE49-F238E27FC236}">
                <a16:creationId xmlns:a16="http://schemas.microsoft.com/office/drawing/2014/main" id="{011D3AA6-2D50-4476-AF88-B21749302766}"/>
              </a:ext>
            </a:extLst>
          </p:cNvPr>
          <p:cNvSpPr>
            <a:spLocks xmlns:a="http://schemas.openxmlformats.org/drawingml/2006/main" noGrp="1"/>
          </p:cNvSpPr>
          <p:nvPr/>
        </p:nvSpPr>
        <p:spPr>
          <a:xfrm xmlns:a="http://schemas.openxmlformats.org/drawingml/2006/main">
            <a:off x="685800" y="58102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3" name="body-2">
            <a:extLst xmlns:a="http://schemas.openxmlformats.org/drawingml/2006/main">
              <a:ext uri="{FF2B5EF4-FFF2-40B4-BE49-F238E27FC236}">
                <a16:creationId xmlns:a16="http://schemas.microsoft.com/office/drawing/2014/main" id="{1E5D17B0-BEEE-4C06-9824-139FC845D9AD}"/>
              </a:ext>
            </a:extLst>
          </p:cNvPr>
          <p:cNvSpPr>
            <a:spLocks xmlns:a="http://schemas.openxmlformats.org/drawingml/2006/main" noGrp="1"/>
          </p:cNvSpPr>
          <p:nvPr/>
        </p:nvSpPr>
        <p:spPr>
          <a:xfrm xmlns:a="http://schemas.openxmlformats.org/drawingml/2006/main">
            <a:off x="1009650" y="5810250"/>
            <a:ext cx="62484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Partial reassembly and source/writer restart recovery.</a:t>
            </a:r>
          </a:p>
        </p:txBody>
      </p:sp>
      <p:sp>
        <p:nvSpPr>
          <p:cNvPr id="14" name="label-REQUIRED BEFORE LIVE CDC">
            <a:extLst xmlns:a="http://schemas.openxmlformats.org/drawingml/2006/main">
              <a:ext uri="{FF2B5EF4-FFF2-40B4-BE49-F238E27FC236}">
                <a16:creationId xmlns:a16="http://schemas.microsoft.com/office/drawing/2014/main" id="{F7A138A6-E315-4E17-ACFD-FAB490718E9C}"/>
              </a:ext>
            </a:extLst>
          </p:cNvPr>
          <p:cNvSpPr>
            <a:spLocks xmlns:a="http://schemas.openxmlformats.org/drawingml/2006/main" noGrp="1"/>
          </p:cNvSpPr>
          <p:nvPr/>
        </p:nvSpPr>
        <p:spPr>
          <a:xfrm xmlns:a="http://schemas.openxmlformats.org/drawingml/2006/main">
            <a:off x="8286750" y="25717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AE562C"/>
                </a:solidFill>
                <a:latin typeface="Arial"/>
                <a:ea typeface="Arial"/>
                <a:cs typeface="Arial"/>
              </a:rPr>
              <a:t>OPERATING BOUNDARIES</a:t>
            </a:r>
          </a:p>
        </p:txBody>
      </p:sp>
      <p:sp>
        <p:nvSpPr>
          <p:cNvPr id="15" name="bullet-0">
            <a:extLst xmlns:a="http://schemas.openxmlformats.org/drawingml/2006/main">
              <a:ext uri="{FF2B5EF4-FFF2-40B4-BE49-F238E27FC236}">
                <a16:creationId xmlns:a16="http://schemas.microsoft.com/office/drawing/2014/main" id="{30DBB997-A872-4D17-B114-AC49FD5C27A2}"/>
              </a:ext>
            </a:extLst>
          </p:cNvPr>
          <p:cNvSpPr>
            <a:spLocks xmlns:a="http://schemas.openxmlformats.org/drawingml/2006/main" noGrp="1"/>
          </p:cNvSpPr>
          <p:nvPr/>
        </p:nvSpPr>
        <p:spPr>
          <a:xfrm xmlns:a="http://schemas.openxmlformats.org/drawingml/2006/main">
            <a:off x="8286750" y="33337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6" name="body-0">
            <a:extLst xmlns:a="http://schemas.openxmlformats.org/drawingml/2006/main">
              <a:ext uri="{FF2B5EF4-FFF2-40B4-BE49-F238E27FC236}">
                <a16:creationId xmlns:a16="http://schemas.microsoft.com/office/drawing/2014/main" id="{1A3DC917-424B-4986-A8EA-6EEE32B036CE}"/>
              </a:ext>
            </a:extLst>
          </p:cNvPr>
          <p:cNvSpPr>
            <a:spLocks xmlns:a="http://schemas.openxmlformats.org/drawingml/2006/main" noGrp="1"/>
          </p:cNvSpPr>
          <p:nvPr/>
        </p:nvSpPr>
        <p:spPr>
          <a:xfrm xmlns:a="http://schemas.openxmlformats.org/drawingml/2006/main">
            <a:off x="8610600" y="333375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Target-backed capture state still needs source binlogs.</a:t>
            </a:r>
          </a:p>
        </p:txBody>
      </p:sp>
      <p:sp>
        <p:nvSpPr>
          <p:cNvPr id="17" name="bullet-1">
            <a:extLst xmlns:a="http://schemas.openxmlformats.org/drawingml/2006/main">
              <a:ext uri="{FF2B5EF4-FFF2-40B4-BE49-F238E27FC236}">
                <a16:creationId xmlns:a16="http://schemas.microsoft.com/office/drawing/2014/main" id="{F1EF4845-E551-45FA-A839-26BA3367B2C3}"/>
              </a:ext>
            </a:extLst>
          </p:cNvPr>
          <p:cNvSpPr>
            <a:spLocks xmlns:a="http://schemas.openxmlformats.org/drawingml/2006/main" noGrp="1"/>
          </p:cNvSpPr>
          <p:nvPr/>
        </p:nvSpPr>
        <p:spPr>
          <a:xfrm xmlns:a="http://schemas.openxmlformats.org/drawingml/2006/main">
            <a:off x="8286750" y="457200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18" name="body-1">
            <a:extLst xmlns:a="http://schemas.openxmlformats.org/drawingml/2006/main">
              <a:ext uri="{FF2B5EF4-FFF2-40B4-BE49-F238E27FC236}">
                <a16:creationId xmlns:a16="http://schemas.microsoft.com/office/drawing/2014/main" id="{DA90A18B-F098-4CCD-936C-87FA32259816}"/>
              </a:ext>
            </a:extLst>
          </p:cNvPr>
          <p:cNvSpPr>
            <a:spLocks xmlns:a="http://schemas.openxmlformats.org/drawingml/2006/main" noGrp="1"/>
          </p:cNvSpPr>
          <p:nvPr/>
        </p:nvSpPr>
        <p:spPr>
          <a:xfrm xmlns:a="http://schemas.openxmlformats.org/drawingml/2006/main">
            <a:off x="8610600" y="457200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Grouped retention and wildcard repositioning are limited.</a:t>
            </a:r>
          </a:p>
        </p:txBody>
      </p:sp>
      <p:sp>
        <p:nvSpPr>
          <p:cNvPr id="19" name="bullet-2">
            <a:extLst xmlns:a="http://schemas.openxmlformats.org/drawingml/2006/main">
              <a:ext uri="{FF2B5EF4-FFF2-40B4-BE49-F238E27FC236}">
                <a16:creationId xmlns:a16="http://schemas.microsoft.com/office/drawing/2014/main" id="{9FD6A103-C5C6-4A01-B065-17D992CE64AC}"/>
              </a:ext>
            </a:extLst>
          </p:cNvPr>
          <p:cNvSpPr>
            <a:spLocks xmlns:a="http://schemas.openxmlformats.org/drawingml/2006/main" noGrp="1"/>
          </p:cNvSpPr>
          <p:nvPr/>
        </p:nvSpPr>
        <p:spPr>
          <a:xfrm xmlns:a="http://schemas.openxmlformats.org/drawingml/2006/main">
            <a:off x="8286750" y="5810250"/>
            <a:ext cx="238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2325" b="0">
                <a:solidFill>
                  <a:srgbClr val="C74634"/>
                </a:solidFill>
                <a:latin typeface="Arial"/>
                <a:ea typeface="Arial"/>
                <a:cs typeface="Arial"/>
              </a:defRPr>
            </a:pPr>
            <a:r>
              <a:rPr sz="2325" b="0">
                <a:solidFill>
                  <a:srgbClr val="C74634"/>
                </a:solidFill>
                <a:latin typeface="Arial"/>
                <a:ea typeface="Arial"/>
                <a:cs typeface="Arial"/>
              </a:rPr>
              <a:t>•</a:t>
            </a:r>
          </a:p>
        </p:txBody>
      </p:sp>
      <p:sp>
        <p:nvSpPr>
          <p:cNvPr id="20" name="body-2">
            <a:extLst xmlns:a="http://schemas.openxmlformats.org/drawingml/2006/main">
              <a:ext uri="{FF2B5EF4-FFF2-40B4-BE49-F238E27FC236}">
                <a16:creationId xmlns:a16="http://schemas.microsoft.com/office/drawing/2014/main" id="{C1F97ED9-F590-4D5B-B9CF-374A1530B140}"/>
              </a:ext>
            </a:extLst>
          </p:cNvPr>
          <p:cNvSpPr>
            <a:spLocks xmlns:a="http://schemas.openxmlformats.org/drawingml/2006/main" noGrp="1"/>
          </p:cNvSpPr>
          <p:nvPr/>
        </p:nvSpPr>
        <p:spPr>
          <a:xfrm xmlns:a="http://schemas.openxmlformats.org/drawingml/2006/main">
            <a:off x="8610600" y="5810250"/>
            <a:ext cx="594360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325">
                <a:solidFill>
                  <a:srgbClr val="312D2A"/>
                </a:solidFill>
                <a:latin typeface="Arial"/>
                <a:ea typeface="Arial"/>
                <a:cs typeface="Arial"/>
              </a:rPr>
              <a:t>Incomplete fragment generations need retained-evidence review.</a:t>
            </a:r>
          </a:p>
        </p:txBody>
      </p:sp>
      <p:sp>
        <p:nvSpPr>
          <p:cNvPr id="21" name="takeaway">
            <a:extLst xmlns:a="http://schemas.openxmlformats.org/drawingml/2006/main">
              <a:ext uri="{FF2B5EF4-FFF2-40B4-BE49-F238E27FC236}">
                <a16:creationId xmlns:a16="http://schemas.microsoft.com/office/drawing/2014/main" id="{2FFE44C8-AAD0-4918-8F1D-C50571B91F1A}"/>
              </a:ext>
            </a:extLst>
          </p:cNvPr>
          <p:cNvSpPr>
            <a:spLocks xmlns:a="http://schemas.openxmlformats.org/drawingml/2006/main" noGrp="1"/>
          </p:cNvSpPr>
          <p:nvPr/>
        </p:nvSpPr>
        <p:spPr>
          <a:xfrm xmlns:a="http://schemas.openxmlformats.org/drawingml/2006/main">
            <a:off x="685800" y="7172325"/>
            <a:ext cx="13868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400" b="1">
                <a:solidFill>
                  <a:srgbClr val="C74634"/>
                </a:solidFill>
                <a:latin typeface="Arial"/>
                <a:ea typeface="Arial"/>
                <a:cs typeface="Arial"/>
              </a:rPr>
              <a:t>Batching fixture: 100 row events + 1 schema event used 2 PUT calls, with zero throttled entries. Capacity still needs workload-specific testing.</a:t>
            </a:r>
          </a:p>
        </p:txBody>
      </p:sp>
    </p:spTree>
    <p:extLst>
      <p:ext uri="{BB962C8B-B14F-4D97-AF65-F5344CB8AC3E}">
        <p14:creationId xmlns:p14="http://schemas.microsoft.com/office/powerpoint/2010/main" val="746891180"/>
      </p:ext>
    </p:extLst>
  </p:cSld>
</p:sld>
</file>

<file path=ppt/slides/slide32.xml><?xml version="1.0" encoding="utf-8"?>
<p:sld xmlns:p="http://schemas.openxmlformats.org/presentationml/2006/main">
  <p:cSld>
    <p:bg>
      <p:bgPr>
        <a:solidFill xmlns:a="http://schemas.openxmlformats.org/drawingml/2006/main">
          <a:srgbClr val="F5F4F2"/>
        </a:solidFill>
      </p:bgPr>
    </p:bg>
    <p:spTree>
      <p:nvGrpSpPr>
        <p:cNvPr id="1" name=""/>
        <p:cNvGrpSpPr/>
        <p:nvPr/>
      </p:nvGrpSpPr>
      <p:grpSpPr>
        <a:xfrm xmlns:a="http://schemas.openxmlformats.org/drawingml/2006/main"/>
      </p:grpSpPr>
      <p:sp>
        <p:nvSpPr>
          <p:cNvPr id="1" name="brand-rule-72-42">
            <a:extLst xmlns:a="http://schemas.openxmlformats.org/drawingml/2006/main">
              <a:ext uri="{FF2B5EF4-FFF2-40B4-BE49-F238E27FC236}">
                <a16:creationId xmlns:a16="http://schemas.microsoft.com/office/drawing/2014/main" id="{BDF789E0-55F4-4015-AD73-2A1E40ECC6F1}"/>
              </a:ext>
            </a:extLst>
          </p:cNvPr>
          <p:cNvSpPr>
            <a:spLocks xmlns:a="http://schemas.openxmlformats.org/drawingml/2006/main" noGrp="1"/>
          </p:cNvSpPr>
          <p:nvPr/>
        </p:nvSpPr>
        <p:spPr>
          <a:xfrm xmlns:a="http://schemas.openxmlformats.org/drawingml/2006/main">
            <a:off x="685800" y="400050"/>
            <a:ext cx="704850" cy="57150"/>
          </a:xfrm>
          <a:prstGeom xmlns:a="http://schemas.openxmlformats.org/drawingml/2006/main" prst="rect">
            <a:avLst/>
          </a:prstGeom>
          <a:solidFill xmlns:a="http://schemas.openxmlformats.org/drawingml/2006/main">
            <a:srgbClr val="C74634"/>
          </a:solidFill>
          <a:ln xmlns:a="http://schemas.openxmlformats.org/drawingml/2006/main" w="0">
            <a:noFill/>
          </a:ln>
        </p:spPr>
      </p:sp>
      <p:sp>
        <p:nvSpPr>
          <p:cNvPr id="2" name="section">
            <a:extLst xmlns:a="http://schemas.openxmlformats.org/drawingml/2006/main">
              <a:ext uri="{FF2B5EF4-FFF2-40B4-BE49-F238E27FC236}">
                <a16:creationId xmlns:a16="http://schemas.microsoft.com/office/drawing/2014/main" id="{EC203C5E-1900-4740-AC21-C0EE66C140A2}"/>
              </a:ext>
            </a:extLst>
          </p:cNvPr>
          <p:cNvSpPr>
            <a:spLocks xmlns:a="http://schemas.openxmlformats.org/drawingml/2006/main" noGrp="1"/>
          </p:cNvSpPr>
          <p:nvPr/>
        </p:nvSpPr>
        <p:spPr>
          <a:xfrm xmlns:a="http://schemas.openxmlformats.org/drawingml/2006/main">
            <a:off x="1581150" y="352425"/>
            <a:ext cx="1200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1">
                <a:solidFill>
                  <a:srgbClr val="6F6861"/>
                </a:solidFill>
                <a:latin typeface="Arial"/>
                <a:ea typeface="Arial"/>
                <a:cs typeface="Arial"/>
              </a:defRPr>
            </a:pPr>
            <a:r>
              <a:rPr sz="1650" b="1">
                <a:solidFill>
                  <a:srgbClr val="6F6861"/>
                </a:solidFill>
                <a:latin typeface="Arial"/>
                <a:ea typeface="Arial"/>
                <a:cs typeface="Arial"/>
              </a:rPr>
              <a:t>APPENDIX</a:t>
            </a:r>
          </a:p>
        </p:txBody>
      </p:sp>
      <p:sp>
        <p:nvSpPr>
          <p:cNvPr id="3" name="title">
            <a:extLst xmlns:a="http://schemas.openxmlformats.org/drawingml/2006/main">
              <a:ext uri="{FF2B5EF4-FFF2-40B4-BE49-F238E27FC236}">
                <a16:creationId xmlns:a16="http://schemas.microsoft.com/office/drawing/2014/main" id="{B1691D91-1638-4016-A2BE-B7912F3F2681}"/>
              </a:ext>
            </a:extLst>
          </p:cNvPr>
          <p:cNvSpPr>
            <a:spLocks xmlns:a="http://schemas.openxmlformats.org/drawingml/2006/main" noGrp="1"/>
          </p:cNvSpPr>
          <p:nvPr/>
        </p:nvSpPr>
        <p:spPr>
          <a:xfrm xmlns:a="http://schemas.openxmlformats.org/drawingml/2006/main">
            <a:off x="685800" y="923925"/>
            <a:ext cx="138684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3600" b="1">
                <a:solidFill>
                  <a:srgbClr val="312D2A"/>
                </a:solidFill>
                <a:latin typeface="Arial"/>
                <a:ea typeface="Arial"/>
                <a:cs typeface="Arial"/>
              </a:defRPr>
            </a:pPr>
            <a:r>
              <a:rPr sz="3600" b="1">
                <a:solidFill>
                  <a:srgbClr val="312D2A"/>
                </a:solidFill>
                <a:latin typeface="Arial"/>
                <a:ea typeface="Arial"/>
                <a:cs typeface="Arial"/>
              </a:rPr>
              <a:t>Primary sources and implementation references</a:t>
            </a:r>
          </a:p>
        </p:txBody>
      </p:sp>
      <p:sp>
        <p:nvSpPr>
          <p:cNvPr id="4" name="brand-rule-72-831">
            <a:extLst xmlns:a="http://schemas.openxmlformats.org/drawingml/2006/main">
              <a:ext uri="{FF2B5EF4-FFF2-40B4-BE49-F238E27FC236}">
                <a16:creationId xmlns:a16="http://schemas.microsoft.com/office/drawing/2014/main" id="{5A883893-4CB8-4384-B998-D5A739060F84}"/>
              </a:ext>
            </a:extLst>
          </p:cNvPr>
          <p:cNvSpPr>
            <a:spLocks xmlns:a="http://schemas.openxmlformats.org/drawingml/2006/main" noGrp="1"/>
          </p:cNvSpPr>
          <p:nvPr/>
        </p:nvSpPr>
        <p:spPr>
          <a:xfrm xmlns:a="http://schemas.openxmlformats.org/drawingml/2006/main">
            <a:off x="685800" y="7915275"/>
            <a:ext cx="13868400" cy="9525"/>
          </a:xfrm>
          <a:prstGeom xmlns:a="http://schemas.openxmlformats.org/drawingml/2006/main" prst="rect">
            <a:avLst/>
          </a:prstGeom>
          <a:solidFill xmlns:a="http://schemas.openxmlformats.org/drawingml/2006/main">
            <a:srgbClr val="D7D3CF"/>
          </a:solidFill>
          <a:ln xmlns:a="http://schemas.openxmlformats.org/drawingml/2006/main" w="0">
            <a:noFill/>
          </a:ln>
        </p:spPr>
      </p:sp>
      <p:sp>
        <p:nvSpPr>
          <p:cNvPr id="5" name="footer">
            <a:extLst xmlns:a="http://schemas.openxmlformats.org/drawingml/2006/main">
              <a:ext uri="{FF2B5EF4-FFF2-40B4-BE49-F238E27FC236}">
                <a16:creationId xmlns:a16="http://schemas.microsoft.com/office/drawing/2014/main" id="{23338C20-92ED-41EC-A467-721F75250932}"/>
              </a:ext>
            </a:extLst>
          </p:cNvPr>
          <p:cNvSpPr>
            <a:spLocks xmlns:a="http://schemas.openxmlformats.org/drawingml/2006/main" noGrp="1"/>
          </p:cNvSpPr>
          <p:nvPr/>
        </p:nvSpPr>
        <p:spPr>
          <a:xfrm xmlns:a="http://schemas.openxmlformats.org/drawingml/2006/main">
            <a:off x="685800" y="8077200"/>
            <a:ext cx="1190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05" b="0">
                <a:solidFill>
                  <a:srgbClr val="6F6861"/>
                </a:solidFill>
                <a:latin typeface="Arial"/>
                <a:ea typeface="Arial"/>
                <a:cs typeface="Arial"/>
              </a:defRPr>
            </a:pPr>
            <a:r>
              <a:rPr sz="1605" b="0">
                <a:solidFill>
                  <a:srgbClr val="6F6861"/>
                </a:solidFill>
                <a:latin typeface="Arial"/>
                <a:ea typeface="Arial"/>
                <a:cs typeface="Arial"/>
              </a:rPr>
              <a:t>HeatWave Audit Center  |  Technical overview</a:t>
            </a:r>
          </a:p>
        </p:txBody>
      </p:sp>
      <p:sp>
        <p:nvSpPr>
          <p:cNvPr id="6" name="page">
            <a:extLst xmlns:a="http://schemas.openxmlformats.org/drawingml/2006/main">
              <a:ext uri="{FF2B5EF4-FFF2-40B4-BE49-F238E27FC236}">
                <a16:creationId xmlns:a16="http://schemas.microsoft.com/office/drawing/2014/main" id="{DA233EF1-6502-47EA-B3DD-DB9B1D87AD62}"/>
              </a:ext>
            </a:extLst>
          </p:cNvPr>
          <p:cNvSpPr>
            <a:spLocks xmlns:a="http://schemas.openxmlformats.org/drawingml/2006/main" noGrp="1"/>
          </p:cNvSpPr>
          <p:nvPr/>
        </p:nvSpPr>
        <p:spPr>
          <a:xfrm xmlns:a="http://schemas.openxmlformats.org/drawingml/2006/main">
            <a:off x="13763625" y="8077200"/>
            <a:ext cx="7905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1605">
                <a:solidFill>
                  <a:srgbClr val="6F6861"/>
                </a:solidFill>
                <a:latin typeface="Arial"/>
                <a:ea typeface="Arial"/>
                <a:cs typeface="Arial"/>
              </a:rPr>
              <a:t>32</a:t>
            </a:r>
          </a:p>
        </p:txBody>
      </p:sp>
      <p:sp>
        <p:nvSpPr>
          <p:cNvPr id="7" name="reference-0">
            <a:extLst xmlns:a="http://schemas.openxmlformats.org/drawingml/2006/main">
              <a:ext uri="{FF2B5EF4-FFF2-40B4-BE49-F238E27FC236}">
                <a16:creationId xmlns:a16="http://schemas.microsoft.com/office/drawing/2014/main" id="{D842A226-D22A-4A94-834F-BF10D77A346C}"/>
              </a:ext>
            </a:extLst>
          </p:cNvPr>
          <p:cNvSpPr>
            <a:spLocks xmlns:a="http://schemas.openxmlformats.org/drawingml/2006/main" noGrp="1"/>
          </p:cNvSpPr>
          <p:nvPr/>
        </p:nvSpPr>
        <p:spPr>
          <a:xfrm xmlns:a="http://schemas.openxmlformats.org/drawingml/2006/main">
            <a:off x="685800" y="27146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cebe873865e0487e"/>
              </a:rPr>
              <a:t>MySQL binlog row images and GTID concepts</a:t>
            </a:r>
          </a:p>
        </p:txBody>
      </p:sp>
      <p:sp>
        <p:nvSpPr>
          <p:cNvPr id="8" name="reference-kind-0">
            <a:extLst xmlns:a="http://schemas.openxmlformats.org/drawingml/2006/main">
              <a:ext uri="{FF2B5EF4-FFF2-40B4-BE49-F238E27FC236}">
                <a16:creationId xmlns:a16="http://schemas.microsoft.com/office/drawing/2014/main" id="{D876E592-4287-41E0-9617-2DE2F26A960A}"/>
              </a:ext>
            </a:extLst>
          </p:cNvPr>
          <p:cNvSpPr>
            <a:spLocks xmlns:a="http://schemas.openxmlformats.org/drawingml/2006/main" noGrp="1"/>
          </p:cNvSpPr>
          <p:nvPr/>
        </p:nvSpPr>
        <p:spPr>
          <a:xfrm xmlns:a="http://schemas.openxmlformats.org/drawingml/2006/main">
            <a:off x="685800" y="339090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Product documentation</a:t>
            </a:r>
          </a:p>
        </p:txBody>
      </p:sp>
      <p:sp>
        <p:nvSpPr>
          <p:cNvPr id="9" name="reference-1">
            <a:extLst xmlns:a="http://schemas.openxmlformats.org/drawingml/2006/main">
              <a:ext uri="{FF2B5EF4-FFF2-40B4-BE49-F238E27FC236}">
                <a16:creationId xmlns:a16="http://schemas.microsoft.com/office/drawing/2014/main" id="{6E79EB7B-3805-41BE-A07E-F90A5502EC1C}"/>
              </a:ext>
            </a:extLst>
          </p:cNvPr>
          <p:cNvSpPr>
            <a:spLocks xmlns:a="http://schemas.openxmlformats.org/drawingml/2006/main" noGrp="1"/>
          </p:cNvSpPr>
          <p:nvPr/>
        </p:nvSpPr>
        <p:spPr>
          <a:xfrm xmlns:a="http://schemas.openxmlformats.org/drawingml/2006/main">
            <a:off x="685800" y="38385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1e952cf3308c4b64"/>
              </a:rPr>
              <a:t>Debezium MySQL 3.4 event and snapshot behavior</a:t>
            </a:r>
          </a:p>
        </p:txBody>
      </p:sp>
      <p:sp>
        <p:nvSpPr>
          <p:cNvPr id="10" name="reference-kind-1">
            <a:extLst xmlns:a="http://schemas.openxmlformats.org/drawingml/2006/main">
              <a:ext uri="{FF2B5EF4-FFF2-40B4-BE49-F238E27FC236}">
                <a16:creationId xmlns:a16="http://schemas.microsoft.com/office/drawing/2014/main" id="{45B81C24-0D08-4EEB-8008-FAD2BFD8F495}"/>
              </a:ext>
            </a:extLst>
          </p:cNvPr>
          <p:cNvSpPr>
            <a:spLocks xmlns:a="http://schemas.openxmlformats.org/drawingml/2006/main" noGrp="1"/>
          </p:cNvSpPr>
          <p:nvPr/>
        </p:nvSpPr>
        <p:spPr>
          <a:xfrm xmlns:a="http://schemas.openxmlformats.org/drawingml/2006/main">
            <a:off x="685800" y="451485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Product documentation</a:t>
            </a:r>
          </a:p>
        </p:txBody>
      </p:sp>
      <p:sp>
        <p:nvSpPr>
          <p:cNvPr id="11" name="reference-2">
            <a:extLst xmlns:a="http://schemas.openxmlformats.org/drawingml/2006/main">
              <a:ext uri="{FF2B5EF4-FFF2-40B4-BE49-F238E27FC236}">
                <a16:creationId xmlns:a16="http://schemas.microsoft.com/office/drawing/2014/main" id="{02168E62-0307-45B7-B138-6BC7721FB9B5}"/>
              </a:ext>
            </a:extLst>
          </p:cNvPr>
          <p:cNvSpPr>
            <a:spLocks xmlns:a="http://schemas.openxmlformats.org/drawingml/2006/main" noGrp="1"/>
          </p:cNvSpPr>
          <p:nvPr/>
        </p:nvSpPr>
        <p:spPr>
          <a:xfrm xmlns:a="http://schemas.openxmlformats.org/drawingml/2006/main">
            <a:off x="685800" y="49625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4bee0759afd24ea4"/>
              </a:rPr>
              <a:t>Debezium Engine and JSON serialization</a:t>
            </a:r>
          </a:p>
        </p:txBody>
      </p:sp>
      <p:sp>
        <p:nvSpPr>
          <p:cNvPr id="12" name="reference-kind-2">
            <a:extLst xmlns:a="http://schemas.openxmlformats.org/drawingml/2006/main">
              <a:ext uri="{FF2B5EF4-FFF2-40B4-BE49-F238E27FC236}">
                <a16:creationId xmlns:a16="http://schemas.microsoft.com/office/drawing/2014/main" id="{AED21783-8E86-44CE-9D2A-2BF18664C418}"/>
              </a:ext>
            </a:extLst>
          </p:cNvPr>
          <p:cNvSpPr>
            <a:spLocks xmlns:a="http://schemas.openxmlformats.org/drawingml/2006/main" noGrp="1"/>
          </p:cNvSpPr>
          <p:nvPr/>
        </p:nvSpPr>
        <p:spPr>
          <a:xfrm xmlns:a="http://schemas.openxmlformats.org/drawingml/2006/main">
            <a:off x="685800" y="563880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Product documentation</a:t>
            </a:r>
          </a:p>
        </p:txBody>
      </p:sp>
      <p:sp>
        <p:nvSpPr>
          <p:cNvPr id="13" name="reference-3">
            <a:extLst xmlns:a="http://schemas.openxmlformats.org/drawingml/2006/main">
              <a:ext uri="{FF2B5EF4-FFF2-40B4-BE49-F238E27FC236}">
                <a16:creationId xmlns:a16="http://schemas.microsoft.com/office/drawing/2014/main" id="{676844E3-D14E-41C4-917D-0D475441B8D0}"/>
              </a:ext>
            </a:extLst>
          </p:cNvPr>
          <p:cNvSpPr>
            <a:spLocks xmlns:a="http://schemas.openxmlformats.org/drawingml/2006/main" noGrp="1"/>
          </p:cNvSpPr>
          <p:nvPr/>
        </p:nvSpPr>
        <p:spPr>
          <a:xfrm xmlns:a="http://schemas.openxmlformats.org/drawingml/2006/main">
            <a:off x="685800" y="60864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84fc502465964308"/>
              </a:rPr>
              <a:t>OCI native Streaming publishing and message limits</a:t>
            </a:r>
          </a:p>
        </p:txBody>
      </p:sp>
      <p:sp>
        <p:nvSpPr>
          <p:cNvPr id="14" name="reference-kind-3">
            <a:extLst xmlns:a="http://schemas.openxmlformats.org/drawingml/2006/main">
              <a:ext uri="{FF2B5EF4-FFF2-40B4-BE49-F238E27FC236}">
                <a16:creationId xmlns:a16="http://schemas.microsoft.com/office/drawing/2014/main" id="{126FA99C-35B0-4634-B7D6-B0C33FB480AC}"/>
              </a:ext>
            </a:extLst>
          </p:cNvPr>
          <p:cNvSpPr>
            <a:spLocks xmlns:a="http://schemas.openxmlformats.org/drawingml/2006/main" noGrp="1"/>
          </p:cNvSpPr>
          <p:nvPr/>
        </p:nvSpPr>
        <p:spPr>
          <a:xfrm xmlns:a="http://schemas.openxmlformats.org/drawingml/2006/main">
            <a:off x="685800" y="676275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Product documentation</a:t>
            </a:r>
          </a:p>
        </p:txBody>
      </p:sp>
      <p:sp>
        <p:nvSpPr>
          <p:cNvPr id="15" name="reference-4">
            <a:extLst xmlns:a="http://schemas.openxmlformats.org/drawingml/2006/main">
              <a:ext uri="{FF2B5EF4-FFF2-40B4-BE49-F238E27FC236}">
                <a16:creationId xmlns:a16="http://schemas.microsoft.com/office/drawing/2014/main" id="{FD9DA8E5-141F-46EE-B9B8-F00BE2667FEF}"/>
              </a:ext>
            </a:extLst>
          </p:cNvPr>
          <p:cNvSpPr>
            <a:spLocks xmlns:a="http://schemas.openxmlformats.org/drawingml/2006/main" noGrp="1"/>
          </p:cNvSpPr>
          <p:nvPr/>
        </p:nvSpPr>
        <p:spPr>
          <a:xfrm xmlns:a="http://schemas.openxmlformats.org/drawingml/2006/main">
            <a:off x="7972425" y="27146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2ada6815748f4ddd"/>
              </a:rPr>
              <a:t>OCI Streaming throttling and partial PUT failures</a:t>
            </a:r>
          </a:p>
        </p:txBody>
      </p:sp>
      <p:sp>
        <p:nvSpPr>
          <p:cNvPr id="16" name="reference-kind-4">
            <a:extLst xmlns:a="http://schemas.openxmlformats.org/drawingml/2006/main">
              <a:ext uri="{FF2B5EF4-FFF2-40B4-BE49-F238E27FC236}">
                <a16:creationId xmlns:a16="http://schemas.microsoft.com/office/drawing/2014/main" id="{447715B6-FA9C-4345-A15E-2D995CCFBA8B}"/>
              </a:ext>
            </a:extLst>
          </p:cNvPr>
          <p:cNvSpPr>
            <a:spLocks xmlns:a="http://schemas.openxmlformats.org/drawingml/2006/main" noGrp="1"/>
          </p:cNvSpPr>
          <p:nvPr/>
        </p:nvSpPr>
        <p:spPr>
          <a:xfrm xmlns:a="http://schemas.openxmlformats.org/drawingml/2006/main">
            <a:off x="7972425" y="339090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Documentation / reviewed project reference</a:t>
            </a:r>
          </a:p>
        </p:txBody>
      </p:sp>
      <p:sp>
        <p:nvSpPr>
          <p:cNvPr id="17" name="reference-5">
            <a:extLst xmlns:a="http://schemas.openxmlformats.org/drawingml/2006/main">
              <a:ext uri="{FF2B5EF4-FFF2-40B4-BE49-F238E27FC236}">
                <a16:creationId xmlns:a16="http://schemas.microsoft.com/office/drawing/2014/main" id="{269C8BF7-FCF5-4FD8-92EB-763214E5BE3D}"/>
              </a:ext>
            </a:extLst>
          </p:cNvPr>
          <p:cNvSpPr>
            <a:spLocks xmlns:a="http://schemas.openxmlformats.org/drawingml/2006/main" noGrp="1"/>
          </p:cNvSpPr>
          <p:nvPr/>
        </p:nvSpPr>
        <p:spPr>
          <a:xfrm xmlns:a="http://schemas.openxmlformats.org/drawingml/2006/main">
            <a:off x="7972425" y="38385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a0b2d9ed358f4dee"/>
              </a:rPr>
              <a:t>MySQL JSON and packet-size boundaries</a:t>
            </a:r>
          </a:p>
        </p:txBody>
      </p:sp>
      <p:sp>
        <p:nvSpPr>
          <p:cNvPr id="18" name="reference-kind-5">
            <a:extLst xmlns:a="http://schemas.openxmlformats.org/drawingml/2006/main">
              <a:ext uri="{FF2B5EF4-FFF2-40B4-BE49-F238E27FC236}">
                <a16:creationId xmlns:a16="http://schemas.microsoft.com/office/drawing/2014/main" id="{755EFFB2-2B43-4B78-9AA7-213C0FC1D025}"/>
              </a:ext>
            </a:extLst>
          </p:cNvPr>
          <p:cNvSpPr>
            <a:spLocks xmlns:a="http://schemas.openxmlformats.org/drawingml/2006/main" noGrp="1"/>
          </p:cNvSpPr>
          <p:nvPr/>
        </p:nvSpPr>
        <p:spPr>
          <a:xfrm xmlns:a="http://schemas.openxmlformats.org/drawingml/2006/main">
            <a:off x="7972425" y="451485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Documentation / reviewed project reference</a:t>
            </a:r>
          </a:p>
        </p:txBody>
      </p:sp>
      <p:sp>
        <p:nvSpPr>
          <p:cNvPr id="19" name="reference-6">
            <a:extLst xmlns:a="http://schemas.openxmlformats.org/drawingml/2006/main">
              <a:ext uri="{FF2B5EF4-FFF2-40B4-BE49-F238E27FC236}">
                <a16:creationId xmlns:a16="http://schemas.microsoft.com/office/drawing/2014/main" id="{2916F04A-E2FF-4D62-B4E9-32D56C0D3F8D}"/>
              </a:ext>
            </a:extLst>
          </p:cNvPr>
          <p:cNvSpPr>
            <a:spLocks xmlns:a="http://schemas.openxmlformats.org/drawingml/2006/main" noGrp="1"/>
          </p:cNvSpPr>
          <p:nvPr/>
        </p:nvSpPr>
        <p:spPr>
          <a:xfrm xmlns:a="http://schemas.openxmlformats.org/drawingml/2006/main">
            <a:off x="7972425" y="496252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e6fe6cbf64b94015"/>
              </a:rPr>
              <a:t>HeatWave audit evidence and security boundaries</a:t>
            </a:r>
          </a:p>
        </p:txBody>
      </p:sp>
      <p:sp>
        <p:nvSpPr>
          <p:cNvPr id="20" name="reference-kind-6">
            <a:extLst xmlns:a="http://schemas.openxmlformats.org/drawingml/2006/main">
              <a:ext uri="{FF2B5EF4-FFF2-40B4-BE49-F238E27FC236}">
                <a16:creationId xmlns:a16="http://schemas.microsoft.com/office/drawing/2014/main" id="{48F10C76-3CCB-4C5B-977D-5C9432D38860}"/>
              </a:ext>
            </a:extLst>
          </p:cNvPr>
          <p:cNvSpPr>
            <a:spLocks xmlns:a="http://schemas.openxmlformats.org/drawingml/2006/main" noGrp="1"/>
          </p:cNvSpPr>
          <p:nvPr/>
        </p:nvSpPr>
        <p:spPr>
          <a:xfrm xmlns:a="http://schemas.openxmlformats.org/drawingml/2006/main">
            <a:off x="7972425" y="563880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Documentation / reviewed project reference</a:t>
            </a:r>
          </a:p>
        </p:txBody>
      </p:sp>
      <p:sp>
        <p:nvSpPr>
          <p:cNvPr id="21" name="reference-7">
            <a:extLst xmlns:a="http://schemas.openxmlformats.org/drawingml/2006/main">
              <a:ext uri="{FF2B5EF4-FFF2-40B4-BE49-F238E27FC236}">
                <a16:creationId xmlns:a16="http://schemas.microsoft.com/office/drawing/2014/main" id="{E9923BB4-E148-4659-9579-B8E1127D4E69}"/>
              </a:ext>
            </a:extLst>
          </p:cNvPr>
          <p:cNvSpPr>
            <a:spLocks xmlns:a="http://schemas.openxmlformats.org/drawingml/2006/main" noGrp="1"/>
          </p:cNvSpPr>
          <p:nvPr/>
        </p:nvSpPr>
        <p:spPr>
          <a:xfrm xmlns:a="http://schemas.openxmlformats.org/drawingml/2006/main">
            <a:off x="7972425" y="60864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0">
              <a:buNone/>
            </a:pPr>
            <a:r>
              <a:rPr sz="2250" b="1">
                <a:solidFill>
                  <a:srgbClr val="AE562C"/>
                </a:solidFill>
                <a:latin typeface="Arial"/>
                <a:ea typeface="Arial"/>
                <a:cs typeface="Arial"/>
                <a:hlinkClick xmlns:r="http://schemas.openxmlformats.org/officeDocument/2006/relationships" r:id="Rd7c55bda40b840c5"/>
              </a:rPr>
              <a:t>Project manual: scopes, GTID, framing and recovery</a:t>
            </a:r>
          </a:p>
        </p:txBody>
      </p:sp>
      <p:sp>
        <p:nvSpPr>
          <p:cNvPr id="22" name="reference-kind-7">
            <a:extLst xmlns:a="http://schemas.openxmlformats.org/drawingml/2006/main">
              <a:ext uri="{FF2B5EF4-FFF2-40B4-BE49-F238E27FC236}">
                <a16:creationId xmlns:a16="http://schemas.microsoft.com/office/drawing/2014/main" id="{011512A6-9F5B-4F6C-987B-71148515EC1F}"/>
              </a:ext>
            </a:extLst>
          </p:cNvPr>
          <p:cNvSpPr>
            <a:spLocks xmlns:a="http://schemas.openxmlformats.org/drawingml/2006/main" noGrp="1"/>
          </p:cNvSpPr>
          <p:nvPr/>
        </p:nvSpPr>
        <p:spPr>
          <a:xfrm xmlns:a="http://schemas.openxmlformats.org/drawingml/2006/main">
            <a:off x="7972425" y="6762750"/>
            <a:ext cx="6572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buNone/>
              <a:defRPr sz="1650" b="0">
                <a:solidFill>
                  <a:srgbClr val="6F6861"/>
                </a:solidFill>
                <a:latin typeface="Arial"/>
                <a:ea typeface="Arial"/>
                <a:cs typeface="Arial"/>
              </a:defRPr>
            </a:pPr>
            <a:r>
              <a:rPr sz="1650" b="0">
                <a:solidFill>
                  <a:srgbClr val="6F6861"/>
                </a:solidFill>
                <a:latin typeface="Arial"/>
                <a:ea typeface="Arial"/>
                <a:cs typeface="Arial"/>
              </a:rPr>
              <a:t>Documentation / reviewed project reference</a:t>
            </a:r>
          </a:p>
        </p:txBody>
      </p:sp>
    </p:spTree>
    <p:extLst>
      <p:ext uri="{BB962C8B-B14F-4D97-AF65-F5344CB8AC3E}">
        <p14:creationId xmlns:p14="http://schemas.microsoft.com/office/powerpoint/2010/main" val="1593791902"/>
      </p:ext>
    </p:extLst>
  </p:cSld>
</p:sld>
</file>

<file path=ppt/theme/theme1.xml><?xml version="1.0" encoding="utf-8"?>
<a:theme xmlns:a="http://schemas.openxmlformats.org/drawingml/2006/main" name="ChatGPT">
  <a:themeElements>
    <a:clrScheme name="Oracle-style project palette">
      <a:dk1>
        <a:srgbClr val="312D2A"/>
      </a:dk1>
      <a:lt1>
        <a:srgbClr val="FFFFFF"/>
      </a:lt1>
      <a:dk2>
        <a:srgbClr val="242B2A"/>
      </a:dk2>
      <a:lt2>
        <a:srgbClr val="E9E5DF"/>
      </a:lt2>
      <a:accent1>
        <a:srgbClr val="C74634"/>
      </a:accent1>
      <a:accent2>
        <a:srgbClr val="AE562C"/>
      </a:accent2>
      <a:accent3>
        <a:srgbClr val="486D58"/>
      </a:accent3>
      <a:accent4>
        <a:srgbClr val="467B83"/>
      </a:accent4>
      <a:accent5>
        <a:srgbClr val="8F7960"/>
      </a:accent5>
      <a:accent6>
        <a:srgbClr val="B6AA9A"/>
      </a:accent6>
      <a:hlink>
        <a:srgbClr val="AE562C"/>
      </a:hlink>
      <a:folHlink>
        <a:srgbClr val="6F6861"/>
      </a:folHlink>
    </a:clrScheme>
    <a:fontScheme name="Office">
      <a:majorFont>
        <a:latin typeface="Calibri Light"/>
        <a:ea typeface="Calibri Light"/>
        <a:cs typeface="Calibri Light"/>
      </a:majorFont>
      <a:minorFont>
        <a:latin typeface="Calibri"/>
        <a:ea typeface="Calibri"/>
        <a:cs typeface="Calibri"/>
      </a:minorFont>
    </a:fontScheme>
    <a:fmtScheme name="Oracle-style project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2026-10-28T18:57:53.0020000Z</dcterms:created>
  <dcterms:modified xsi:type="dcterms:W3CDTF">2026-10-28T18:57:53.0020000Z</dcterms:modified>
</coreProperties>
</file>